
<file path=[Content_Types].xml><?xml version="1.0" encoding="utf-8"?>
<Types xmlns="http://schemas.openxmlformats.org/package/2006/content-types">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autoCompressPictures="0">
  <p:sldMasterIdLst>
    <p:sldMasterId id="2147483840" r:id="rId1"/>
  </p:sldMasterIdLst>
  <p:notesMasterIdLst>
    <p:notesMasterId r:id="rId17"/>
  </p:notesMasterIdLst>
  <p:sldIdLst>
    <p:sldId id="256" r:id="rId2"/>
    <p:sldId id="257" r:id="rId3"/>
    <p:sldId id="258" r:id="rId4"/>
    <p:sldId id="259" r:id="rId5"/>
    <p:sldId id="260" r:id="rId6"/>
    <p:sldId id="262" r:id="rId7"/>
    <p:sldId id="261" r:id="rId8"/>
    <p:sldId id="270" r:id="rId9"/>
    <p:sldId id="263" r:id="rId10"/>
    <p:sldId id="264" r:id="rId11"/>
    <p:sldId id="265" r:id="rId12"/>
    <p:sldId id="266" r:id="rId13"/>
    <p:sldId id="267" r:id="rId14"/>
    <p:sldId id="268" r:id="rId15"/>
    <p:sldId id="269" r:id="rId16"/>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4972" autoAdjust="0"/>
    <p:restoredTop sz="94660"/>
  </p:normalViewPr>
  <p:slideViewPr>
    <p:cSldViewPr snapToGrid="0">
      <p:cViewPr>
        <p:scale>
          <a:sx n="75" d="100"/>
          <a:sy n="75" d="100"/>
        </p:scale>
        <p:origin x="974" y="307"/>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presProps" Target="presProps.xml"/><Relationship Id="rId3" Type="http://schemas.openxmlformats.org/officeDocument/2006/relationships/slide" Target="slides/slide2.xml"/><Relationship Id="rId21" Type="http://schemas.openxmlformats.org/officeDocument/2006/relationships/tableStyles" Target="tableStyle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notesMaster" Target="notesMasters/notesMaster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10" Type="http://schemas.openxmlformats.org/officeDocument/2006/relationships/slide" Target="slides/slide9.xml"/><Relationship Id="rId19"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IN"/>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B6DD64F8-E31D-457A-BB3A-CF907F9230DF}" type="datetimeFigureOut">
              <a:rPr lang="en-IN" smtClean="0"/>
              <a:t>15-09-2024</a:t>
            </a:fld>
            <a:endParaRPr lang="en-IN"/>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IN"/>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IN"/>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02EA7C91-547B-49E7-BACE-23FAB95BCC09}" type="slidenum">
              <a:rPr lang="en-IN" smtClean="0"/>
              <a:t>‹#›</a:t>
            </a:fld>
            <a:endParaRPr lang="en-IN"/>
          </a:p>
        </p:txBody>
      </p:sp>
    </p:spTree>
    <p:extLst>
      <p:ext uri="{BB962C8B-B14F-4D97-AF65-F5344CB8AC3E}">
        <p14:creationId xmlns:p14="http://schemas.microsoft.com/office/powerpoint/2010/main" val="4227259634"/>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5"/>
          </p:nvPr>
        </p:nvSpPr>
        <p:spPr/>
        <p:txBody>
          <a:bodyPr/>
          <a:lstStyle/>
          <a:p>
            <a:fld id="{02EA7C91-547B-49E7-BACE-23FAB95BCC09}" type="slidenum">
              <a:rPr lang="en-IN" smtClean="0"/>
              <a:t>8</a:t>
            </a:fld>
            <a:endParaRPr lang="en-IN"/>
          </a:p>
        </p:txBody>
      </p:sp>
    </p:spTree>
    <p:extLst>
      <p:ext uri="{BB962C8B-B14F-4D97-AF65-F5344CB8AC3E}">
        <p14:creationId xmlns:p14="http://schemas.microsoft.com/office/powerpoint/2010/main" val="436779005"/>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bg>
      <p:bgPr>
        <a:solidFill>
          <a:schemeClr val="bg2">
            <a:lumMod val="75000"/>
          </a:schemeClr>
        </a:solidFill>
        <a:effectLst/>
      </p:bgPr>
    </p:bg>
    <p:spTree>
      <p:nvGrpSpPr>
        <p:cNvPr id="1" name=""/>
        <p:cNvGrpSpPr/>
        <p:nvPr/>
      </p:nvGrpSpPr>
      <p:grpSpPr>
        <a:xfrm>
          <a:off x="0" y="0"/>
          <a:ext cx="0" cy="0"/>
          <a:chOff x="0" y="0"/>
          <a:chExt cx="0" cy="0"/>
        </a:xfrm>
      </p:grpSpPr>
      <p:sp>
        <p:nvSpPr>
          <p:cNvPr id="2" name="Title 1"/>
          <p:cNvSpPr>
            <a:spLocks noGrp="1"/>
          </p:cNvSpPr>
          <p:nvPr>
            <p:ph type="ctrTitle"/>
          </p:nvPr>
        </p:nvSpPr>
        <p:spPr>
          <a:xfrm>
            <a:off x="1261872" y="758952"/>
            <a:ext cx="9418320" cy="4041648"/>
          </a:xfrm>
        </p:spPr>
        <p:txBody>
          <a:bodyPr anchor="b">
            <a:normAutofit/>
          </a:bodyPr>
          <a:lstStyle>
            <a:lvl1pPr algn="l">
              <a:lnSpc>
                <a:spcPct val="85000"/>
              </a:lnSpc>
              <a:defRPr sz="7200" baseline="0">
                <a:solidFill>
                  <a:schemeClr val="tx1"/>
                </a:solidFill>
              </a:defRPr>
            </a:lvl1pPr>
          </a:lstStyle>
          <a:p>
            <a:r>
              <a:rPr lang="en-US"/>
              <a:t>Click to edit Master title style</a:t>
            </a:r>
            <a:endParaRPr lang="en-US" dirty="0"/>
          </a:p>
        </p:txBody>
      </p:sp>
      <p:sp>
        <p:nvSpPr>
          <p:cNvPr id="3" name="Subtitle 2"/>
          <p:cNvSpPr>
            <a:spLocks noGrp="1"/>
          </p:cNvSpPr>
          <p:nvPr>
            <p:ph type="subTitle" idx="1"/>
          </p:nvPr>
        </p:nvSpPr>
        <p:spPr>
          <a:xfrm>
            <a:off x="1261872" y="4800600"/>
            <a:ext cx="9418320" cy="1691640"/>
          </a:xfrm>
        </p:spPr>
        <p:txBody>
          <a:bodyPr>
            <a:normAutofit/>
          </a:bodyPr>
          <a:lstStyle>
            <a:lvl1pPr marL="0" indent="0" algn="l">
              <a:buNone/>
              <a:defRPr sz="2200" baseline="0">
                <a:solidFill>
                  <a:schemeClr val="tx1">
                    <a:lumMod val="75000"/>
                  </a:schemeClr>
                </a:solidFill>
              </a:defRPr>
            </a:lvl1pPr>
            <a:lvl2pPr marL="457200" indent="0" algn="ctr">
              <a:buNone/>
              <a:defRPr sz="2200"/>
            </a:lvl2pPr>
            <a:lvl3pPr marL="914400" indent="0" algn="ctr">
              <a:buNone/>
              <a:defRPr sz="2200"/>
            </a:lvl3pPr>
            <a:lvl4pPr marL="1371600" indent="0" algn="ctr">
              <a:buNone/>
              <a:defRPr sz="2000"/>
            </a:lvl4pPr>
            <a:lvl5pPr marL="1828800" indent="0" algn="ctr">
              <a:buNone/>
              <a:defRPr sz="2000"/>
            </a:lvl5pPr>
            <a:lvl6pPr marL="2286000" indent="0" algn="ctr">
              <a:buNone/>
              <a:defRPr sz="2000"/>
            </a:lvl6pPr>
            <a:lvl7pPr marL="2743200" indent="0" algn="ctr">
              <a:buNone/>
              <a:defRPr sz="2000"/>
            </a:lvl7pPr>
            <a:lvl8pPr marL="3200400" indent="0" algn="ctr">
              <a:buNone/>
              <a:defRPr sz="2000"/>
            </a:lvl8pPr>
            <a:lvl9pPr marL="3657600" indent="0" algn="ctr">
              <a:buNone/>
              <a:defRPr sz="2000"/>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lvl1pPr>
              <a:defRPr>
                <a:solidFill>
                  <a:schemeClr val="tx1">
                    <a:lumMod val="50000"/>
                  </a:schemeClr>
                </a:solidFill>
              </a:defRPr>
            </a:lvl1pPr>
          </a:lstStyle>
          <a:p>
            <a:fld id="{9E016143-E03C-4CFD-AFDC-14E5BDEA754C}" type="datetimeFigureOut">
              <a:rPr lang="en-US" dirty="0"/>
              <a:t>9/15/2024</a:t>
            </a:fld>
            <a:endParaRPr lang="en-US" dirty="0"/>
          </a:p>
        </p:txBody>
      </p:sp>
      <p:sp>
        <p:nvSpPr>
          <p:cNvPr id="5" name="Footer Placeholder 4"/>
          <p:cNvSpPr>
            <a:spLocks noGrp="1"/>
          </p:cNvSpPr>
          <p:nvPr>
            <p:ph type="ftr" sz="quarter" idx="11"/>
          </p:nvPr>
        </p:nvSpPr>
        <p:spPr/>
        <p:txBody>
          <a:bodyPr/>
          <a:lstStyle>
            <a:lvl1pPr>
              <a:defRPr>
                <a:solidFill>
                  <a:schemeClr val="tx1">
                    <a:lumMod val="65000"/>
                  </a:schemeClr>
                </a:solidFill>
              </a:defRPr>
            </a:lvl1pPr>
          </a:lstStyle>
          <a:p>
            <a:endParaRPr lang="en-US" dirty="0"/>
          </a:p>
        </p:txBody>
      </p:sp>
      <p:sp>
        <p:nvSpPr>
          <p:cNvPr id="6" name="Slide Number Placeholder 5"/>
          <p:cNvSpPr>
            <a:spLocks noGrp="1"/>
          </p:cNvSpPr>
          <p:nvPr>
            <p:ph type="sldNum" sz="quarter" idx="12"/>
          </p:nvPr>
        </p:nvSpPr>
        <p:spPr/>
        <p:txBody>
          <a:bodyPr/>
          <a:lstStyle>
            <a:lvl1pPr>
              <a:defRPr>
                <a:solidFill>
                  <a:schemeClr val="tx1">
                    <a:lumMod val="65000"/>
                  </a:schemeClr>
                </a:solidFill>
              </a:defRPr>
            </a:lvl1pPr>
          </a:lstStyle>
          <a:p>
            <a:fld id="{4FAB73BC-B049-4115-A692-8D63A059BFB8}" type="slidenum">
              <a:rPr lang="en-US" dirty="0"/>
              <a:pPr/>
              <a:t>‹#›</a:t>
            </a:fld>
            <a:endParaRPr lang="en-US" dirty="0"/>
          </a:p>
        </p:txBody>
      </p:sp>
      <p:sp>
        <p:nvSpPr>
          <p:cNvPr id="7" name="Rectangle 6"/>
          <p:cNvSpPr/>
          <p:nvPr/>
        </p:nvSpPr>
        <p:spPr>
          <a:xfrm>
            <a:off x="0" y="0"/>
            <a:ext cx="457200" cy="68580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Tree>
  </p:cSld>
  <p:clrMapOvr>
    <a:overrideClrMapping bg1="dk1" tx1="lt1" bg2="dk2" tx2="lt2" accent1="accent1" accent2="accent2" accent3="accent3" accent4="accent4" accent5="accent5" accent6="accent6" hlink="hlink" folHlink="folHlink"/>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78C94063-DF36-4330-A365-08DA1FA5B7D6}" type="datetimeFigureOut">
              <a:rPr lang="en-US" dirty="0"/>
              <a:t>9/15/2024</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4FAB73BC-B049-4115-A692-8D63A059BFB8}" type="slidenum">
              <a:rPr lang="en-US" dirty="0"/>
              <a:t>‹#›</a:t>
            </a:fld>
            <a:endParaRPr lang="en-US"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1261872" y="758952"/>
            <a:ext cx="9418320" cy="4041648"/>
          </a:xfrm>
        </p:spPr>
        <p:txBody>
          <a:bodyPr anchor="b">
            <a:normAutofit/>
          </a:bodyPr>
          <a:lstStyle>
            <a:lvl1pPr>
              <a:lnSpc>
                <a:spcPct val="85000"/>
              </a:lnSpc>
              <a:defRPr sz="7200" b="0"/>
            </a:lvl1pPr>
          </a:lstStyle>
          <a:p>
            <a:r>
              <a:rPr lang="en-US"/>
              <a:t>Click to edit Master title style</a:t>
            </a:r>
            <a:endParaRPr lang="en-US" dirty="0"/>
          </a:p>
        </p:txBody>
      </p:sp>
      <p:sp>
        <p:nvSpPr>
          <p:cNvPr id="3" name="Text Placeholder 2"/>
          <p:cNvSpPr>
            <a:spLocks noGrp="1"/>
          </p:cNvSpPr>
          <p:nvPr>
            <p:ph type="body" idx="1"/>
          </p:nvPr>
        </p:nvSpPr>
        <p:spPr>
          <a:xfrm>
            <a:off x="1261872" y="4800600"/>
            <a:ext cx="9418320" cy="1691640"/>
          </a:xfrm>
        </p:spPr>
        <p:txBody>
          <a:bodyPr anchor="t">
            <a:normAutofit/>
          </a:bodyPr>
          <a:lstStyle>
            <a:lvl1pPr marL="0" indent="0">
              <a:buNone/>
              <a:defRPr sz="2200">
                <a:solidFill>
                  <a:schemeClr val="tx1">
                    <a:lumMod val="65000"/>
                    <a:lumOff val="3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908A7C6C-0F39-4D70-8E8D-FE5B9C95FA73}" type="datetimeFigureOut">
              <a:rPr lang="en-US" dirty="0"/>
              <a:t>9/15/2024</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4FAB73BC-B049-4115-A692-8D63A059BFB8}" type="slidenum">
              <a:rPr lang="en-US" dirty="0"/>
              <a:t>‹#›</a:t>
            </a:fld>
            <a:endParaRPr lang="en-US" dirty="0"/>
          </a:p>
        </p:txBody>
      </p:sp>
      <p:sp>
        <p:nvSpPr>
          <p:cNvPr id="7" name="Rectangle 6"/>
          <p:cNvSpPr/>
          <p:nvPr/>
        </p:nvSpPr>
        <p:spPr>
          <a:xfrm>
            <a:off x="0" y="0"/>
            <a:ext cx="457200" cy="68580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1261872" y="1828800"/>
            <a:ext cx="4480560" cy="4351337"/>
          </a:xfrm>
        </p:spPr>
        <p:txBody>
          <a:bodyPr/>
          <a:lstStyle>
            <a:lvl1pPr>
              <a:defRPr sz="1800"/>
            </a:lvl1pPr>
            <a:lvl2pPr>
              <a:defRPr sz="1600"/>
            </a:lvl2pPr>
            <a:lvl3pPr>
              <a:defRPr sz="1400"/>
            </a:lvl3pPr>
            <a:lvl4pPr>
              <a:defRPr sz="1400"/>
            </a:lvl4pPr>
            <a:lvl5pPr>
              <a:defRPr sz="1400"/>
            </a:lvl5pPr>
            <a:lvl6pPr>
              <a:defRPr sz="1400"/>
            </a:lvl6pPr>
            <a:lvl7pPr>
              <a:defRPr sz="1400"/>
            </a:lvl7pPr>
            <a:lvl8pPr>
              <a:defRPr sz="1400"/>
            </a:lvl8pPr>
            <a:lvl9pPr>
              <a:defRPr sz="14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6126480" y="1828800"/>
            <a:ext cx="4480560" cy="4351337"/>
          </a:xfrm>
        </p:spPr>
        <p:txBody>
          <a:bodyPr/>
          <a:lstStyle>
            <a:lvl1pPr>
              <a:defRPr sz="1800"/>
            </a:lvl1pPr>
            <a:lvl2pPr>
              <a:defRPr sz="1600"/>
            </a:lvl2pPr>
            <a:lvl3pPr>
              <a:defRPr sz="1400"/>
            </a:lvl3pPr>
            <a:lvl4pPr>
              <a:defRPr sz="1400"/>
            </a:lvl4pPr>
            <a:lvl5pPr>
              <a:defRPr sz="1400"/>
            </a:lvl5pPr>
            <a:lvl6pPr>
              <a:defRPr sz="1400"/>
            </a:lvl6pPr>
            <a:lvl7pPr>
              <a:defRPr sz="1400"/>
            </a:lvl7pPr>
            <a:lvl8pPr>
              <a:defRPr sz="1400"/>
            </a:lvl8pPr>
            <a:lvl9pPr>
              <a:defRPr sz="14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DFCFA4AC-08CC-42CE-BD01-C191750A04EC}" type="datetimeFigureOut">
              <a:rPr lang="en-US" dirty="0"/>
              <a:t>9/15/2024</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4FAB73BC-B049-4115-A692-8D63A059BFB8}" type="slidenum">
              <a:rPr lang="en-US" dirty="0"/>
              <a:t>‹#›</a:t>
            </a:fld>
            <a:endParaRPr lang="en-US" dirty="0"/>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10" name="Title 9"/>
          <p:cNvSpPr>
            <a:spLocks noGrp="1"/>
          </p:cNvSpPr>
          <p:nvPr>
            <p:ph type="title"/>
          </p:nvPr>
        </p:nvSpPr>
        <p:spPr/>
        <p:txBody>
          <a:bodyPr/>
          <a:lstStyle/>
          <a:p>
            <a:r>
              <a:rPr lang="en-US"/>
              <a:t>Click to edit Master title style</a:t>
            </a:r>
            <a:endParaRPr lang="en-US" dirty="0"/>
          </a:p>
        </p:txBody>
      </p:sp>
      <p:sp>
        <p:nvSpPr>
          <p:cNvPr id="3" name="Text Placeholder 2"/>
          <p:cNvSpPr>
            <a:spLocks noGrp="1"/>
          </p:cNvSpPr>
          <p:nvPr>
            <p:ph type="body" idx="1"/>
          </p:nvPr>
        </p:nvSpPr>
        <p:spPr>
          <a:xfrm>
            <a:off x="1261872" y="1713655"/>
            <a:ext cx="4480560" cy="731520"/>
          </a:xfrm>
        </p:spPr>
        <p:txBody>
          <a:bodyPr anchor="b">
            <a:normAutofit/>
          </a:bodyPr>
          <a:lstStyle>
            <a:lvl1pPr marL="0" indent="0">
              <a:spcBef>
                <a:spcPts val="0"/>
              </a:spcBef>
              <a:buNone/>
              <a:defRPr sz="2000" b="0">
                <a:solidFill>
                  <a:schemeClr val="tx2"/>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1261872" y="2507550"/>
            <a:ext cx="4480560" cy="3664650"/>
          </a:xfrm>
        </p:spPr>
        <p:txBody>
          <a:bodyPr/>
          <a:lstStyle>
            <a:lvl1pPr>
              <a:defRPr sz="1800"/>
            </a:lvl1pPr>
            <a:lvl2pPr>
              <a:defRPr sz="1600"/>
            </a:lvl2pPr>
            <a:lvl3pPr>
              <a:defRPr sz="1400"/>
            </a:lvl3pPr>
            <a:lvl4pPr>
              <a:defRPr sz="1400"/>
            </a:lvl4pPr>
            <a:lvl5pPr>
              <a:defRPr sz="1400"/>
            </a:lvl5pPr>
            <a:lvl6pPr>
              <a:defRPr sz="1400"/>
            </a:lvl6pPr>
            <a:lvl7pPr>
              <a:defRPr sz="1400"/>
            </a:lvl7pPr>
            <a:lvl8pPr>
              <a:defRPr sz="1400"/>
            </a:lvl8pPr>
            <a:lvl9pPr>
              <a:defRPr sz="14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6126480" y="1713655"/>
            <a:ext cx="4480560" cy="731520"/>
          </a:xfrm>
        </p:spPr>
        <p:txBody>
          <a:bodyPr anchor="b">
            <a:normAutofit/>
          </a:bodyPr>
          <a:lstStyle>
            <a:lvl1pPr marL="0" indent="0">
              <a:lnSpc>
                <a:spcPct val="95000"/>
              </a:lnSpc>
              <a:spcBef>
                <a:spcPts val="0"/>
              </a:spcBef>
              <a:buNone/>
              <a:defRPr lang="en-US" sz="2000" b="0" kern="1200" dirty="0">
                <a:solidFill>
                  <a:schemeClr val="tx2"/>
                </a:solidFill>
                <a:latin typeface="+mn-lt"/>
                <a:ea typeface="+mn-ea"/>
                <a:cs typeface="+mn-cs"/>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marL="0" lvl="0" indent="0" algn="l" defTabSz="914400" rtl="0" eaLnBrk="1" latinLnBrk="0" hangingPunct="1">
              <a:lnSpc>
                <a:spcPct val="90000"/>
              </a:lnSpc>
              <a:spcBef>
                <a:spcPts val="2000"/>
              </a:spcBef>
              <a:buFontTx/>
              <a:buNone/>
            </a:pPr>
            <a:r>
              <a:rPr lang="en-US"/>
              <a:t>Click to edit Master text styles</a:t>
            </a:r>
          </a:p>
        </p:txBody>
      </p:sp>
      <p:sp>
        <p:nvSpPr>
          <p:cNvPr id="6" name="Content Placeholder 5"/>
          <p:cNvSpPr>
            <a:spLocks noGrp="1"/>
          </p:cNvSpPr>
          <p:nvPr>
            <p:ph sz="quarter" idx="4"/>
          </p:nvPr>
        </p:nvSpPr>
        <p:spPr>
          <a:xfrm>
            <a:off x="6126480" y="2507550"/>
            <a:ext cx="4480560" cy="3664650"/>
          </a:xfrm>
        </p:spPr>
        <p:txBody>
          <a:bodyPr/>
          <a:lstStyle>
            <a:lvl1pPr>
              <a:defRPr sz="1800"/>
            </a:lvl1pPr>
            <a:lvl2pPr>
              <a:defRPr sz="1600"/>
            </a:lvl2pPr>
            <a:lvl3pPr>
              <a:defRPr sz="1400"/>
            </a:lvl3pPr>
            <a:lvl4pPr>
              <a:defRPr sz="1400"/>
            </a:lvl4pPr>
            <a:lvl5pPr>
              <a:defRPr sz="1400"/>
            </a:lvl5pPr>
            <a:lvl6pPr>
              <a:defRPr sz="1400"/>
            </a:lvl6pPr>
            <a:lvl7pPr>
              <a:defRPr sz="1400"/>
            </a:lvl7pPr>
            <a:lvl8pPr>
              <a:defRPr sz="1400"/>
            </a:lvl8pPr>
            <a:lvl9pPr>
              <a:defRPr sz="14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1BA7A723-92A7-435B-B681-F25B092FEFEB}" type="datetimeFigureOut">
              <a:rPr lang="en-US" dirty="0"/>
              <a:t>9/15/2024</a:t>
            </a:fld>
            <a:endParaRPr lang="en-US" dirty="0"/>
          </a:p>
        </p:txBody>
      </p:sp>
      <p:sp>
        <p:nvSpPr>
          <p:cNvPr id="8" name="Footer Placeholder 7"/>
          <p:cNvSpPr>
            <a:spLocks noGrp="1"/>
          </p:cNvSpPr>
          <p:nvPr>
            <p:ph type="ftr" sz="quarter" idx="11"/>
          </p:nvPr>
        </p:nvSpPr>
        <p:spPr/>
        <p:txBody>
          <a:bodyPr/>
          <a:lstStyle/>
          <a:p>
            <a:endParaRPr lang="en-US" dirty="0"/>
          </a:p>
        </p:txBody>
      </p:sp>
      <p:sp>
        <p:nvSpPr>
          <p:cNvPr id="9" name="Slide Number Placeholder 8"/>
          <p:cNvSpPr>
            <a:spLocks noGrp="1"/>
          </p:cNvSpPr>
          <p:nvPr>
            <p:ph type="sldNum" sz="quarter" idx="12"/>
          </p:nvPr>
        </p:nvSpPr>
        <p:spPr/>
        <p:txBody>
          <a:bodyPr/>
          <a:lstStyle/>
          <a:p>
            <a:fld id="{4FAB73BC-B049-4115-A692-8D63A059BFB8}" type="slidenum">
              <a:rPr lang="en-US" dirty="0"/>
              <a:t>‹#›</a:t>
            </a:fld>
            <a:endParaRPr lang="en-US" dirty="0"/>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6" name="Title 5"/>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4F170639-886C-4FCF-9EAB-ABB5DA3F3F4A}" type="datetimeFigureOut">
              <a:rPr lang="en-US" dirty="0"/>
              <a:t>9/15/2024</a:t>
            </a:fld>
            <a:endParaRPr lang="en-US" dirty="0"/>
          </a:p>
        </p:txBody>
      </p:sp>
      <p:sp>
        <p:nvSpPr>
          <p:cNvPr id="4" name="Footer Placeholder 3"/>
          <p:cNvSpPr>
            <a:spLocks noGrp="1"/>
          </p:cNvSpPr>
          <p:nvPr>
            <p:ph type="ftr" sz="quarter" idx="11"/>
          </p:nvPr>
        </p:nvSpPr>
        <p:spPr/>
        <p:txBody>
          <a:bodyPr/>
          <a:lstStyle/>
          <a:p>
            <a:endParaRPr lang="en-US" dirty="0"/>
          </a:p>
        </p:txBody>
      </p:sp>
      <p:sp>
        <p:nvSpPr>
          <p:cNvPr id="5" name="Slide Number Placeholder 4"/>
          <p:cNvSpPr>
            <a:spLocks noGrp="1"/>
          </p:cNvSpPr>
          <p:nvPr>
            <p:ph type="sldNum" sz="quarter" idx="12"/>
          </p:nvPr>
        </p:nvSpPr>
        <p:spPr/>
        <p:txBody>
          <a:bodyPr/>
          <a:lstStyle/>
          <a:p>
            <a:fld id="{4FAB73BC-B049-4115-A692-8D63A059BFB8}" type="slidenum">
              <a:rPr lang="en-US" dirty="0"/>
              <a:t>‹#›</a:t>
            </a:fld>
            <a:endParaRPr lang="en-US" dirty="0"/>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22230651-31F4-45D2-98AE-A2108F41BC07}" type="datetimeFigureOut">
              <a:rPr lang="en-US" dirty="0"/>
              <a:t>9/15/2024</a:t>
            </a:fld>
            <a:endParaRPr lang="en-US" dirty="0"/>
          </a:p>
        </p:txBody>
      </p:sp>
      <p:sp>
        <p:nvSpPr>
          <p:cNvPr id="3" name="Footer Placeholder 2"/>
          <p:cNvSpPr>
            <a:spLocks noGrp="1"/>
          </p:cNvSpPr>
          <p:nvPr>
            <p:ph type="ftr" sz="quarter" idx="11"/>
          </p:nvPr>
        </p:nvSpPr>
        <p:spPr/>
        <p:txBody>
          <a:bodyPr/>
          <a:lstStyle/>
          <a:p>
            <a:endParaRPr lang="en-US" dirty="0"/>
          </a:p>
        </p:txBody>
      </p:sp>
      <p:sp>
        <p:nvSpPr>
          <p:cNvPr id="4" name="Slide Number Placeholder 3"/>
          <p:cNvSpPr>
            <a:spLocks noGrp="1"/>
          </p:cNvSpPr>
          <p:nvPr>
            <p:ph type="sldNum" sz="quarter" idx="12"/>
          </p:nvPr>
        </p:nvSpPr>
        <p:spPr/>
        <p:txBody>
          <a:bodyPr/>
          <a:lstStyle/>
          <a:p>
            <a:fld id="{4FAB73BC-B049-4115-A692-8D63A059BFB8}" type="slidenum">
              <a:rPr lang="en-US" dirty="0"/>
              <a:t>‹#›</a:t>
            </a:fld>
            <a:endParaRPr lang="en-US" dirty="0"/>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41248" y="457200"/>
            <a:ext cx="3200400" cy="1600197"/>
          </a:xfrm>
        </p:spPr>
        <p:txBody>
          <a:bodyPr anchor="b">
            <a:normAutofit/>
          </a:bodyPr>
          <a:lstStyle>
            <a:lvl1pPr>
              <a:defRPr sz="3200" b="0" baseline="0"/>
            </a:lvl1pPr>
          </a:lstStyle>
          <a:p>
            <a:r>
              <a:rPr lang="en-US"/>
              <a:t>Click to edit Master title style</a:t>
            </a:r>
            <a:endParaRPr lang="en-US" dirty="0"/>
          </a:p>
        </p:txBody>
      </p:sp>
      <p:sp>
        <p:nvSpPr>
          <p:cNvPr id="3" name="Content Placeholder 2"/>
          <p:cNvSpPr>
            <a:spLocks noGrp="1"/>
          </p:cNvSpPr>
          <p:nvPr>
            <p:ph idx="1"/>
          </p:nvPr>
        </p:nvSpPr>
        <p:spPr>
          <a:xfrm>
            <a:off x="4504267" y="685800"/>
            <a:ext cx="6079066" cy="5486400"/>
          </a:xfrm>
        </p:spPr>
        <p:txBody>
          <a:bodyPr/>
          <a:lstStyle>
            <a:lvl1pPr>
              <a:defRPr sz="2000"/>
            </a:lvl1pPr>
            <a:lvl2pPr>
              <a:defRPr sz="1800"/>
            </a:lvl2pPr>
            <a:lvl3pPr>
              <a:defRPr sz="1600"/>
            </a:lvl3pPr>
            <a:lvl4pPr>
              <a:defRPr sz="1400"/>
            </a:lvl4pPr>
            <a:lvl5pPr>
              <a:defRPr sz="1400"/>
            </a:lvl5pPr>
            <a:lvl6pPr>
              <a:defRPr sz="1400"/>
            </a:lvl6pPr>
            <a:lvl7pPr>
              <a:defRPr sz="1400"/>
            </a:lvl7pPr>
            <a:lvl8pPr>
              <a:defRPr sz="1400"/>
            </a:lvl8pPr>
            <a:lvl9pPr>
              <a:defRPr sz="14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841248" y="2099734"/>
            <a:ext cx="3200400" cy="3810001"/>
          </a:xfrm>
        </p:spPr>
        <p:txBody>
          <a:bodyPr>
            <a:normAutofit/>
          </a:bodyPr>
          <a:lstStyle>
            <a:lvl1pPr marL="0" indent="0">
              <a:lnSpc>
                <a:spcPct val="114000"/>
              </a:lnSpc>
              <a:spcBef>
                <a:spcPts val="800"/>
              </a:spcBef>
              <a:buNone/>
              <a:defRPr sz="13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6F53789A-C914-4DB1-8815-80B5EC7335C5}" type="datetimeFigureOut">
              <a:rPr lang="en-US" dirty="0"/>
              <a:t>9/15/2024</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4FAB73BC-B049-4115-A692-8D63A059BFB8}" type="slidenum">
              <a:rPr lang="en-US" dirty="0"/>
              <a:t>‹#›</a:t>
            </a:fld>
            <a:endParaRPr lang="en-US" dirty="0"/>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8" name="Rectangle 7"/>
          <p:cNvSpPr/>
          <p:nvPr/>
        </p:nvSpPr>
        <p:spPr>
          <a:xfrm>
            <a:off x="0" y="5105400"/>
            <a:ext cx="11292840" cy="1752600"/>
          </a:xfrm>
          <a:prstGeom prst="rect">
            <a:avLst/>
          </a:prstGeom>
          <a:solidFill>
            <a:srgbClr val="000000"/>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a:xfrm>
            <a:off x="914400" y="5257800"/>
            <a:ext cx="9982200" cy="914400"/>
          </a:xfrm>
        </p:spPr>
        <p:txBody>
          <a:bodyPr anchor="b">
            <a:normAutofit/>
          </a:bodyPr>
          <a:lstStyle>
            <a:lvl1pPr>
              <a:defRPr sz="2800" b="0">
                <a:solidFill>
                  <a:schemeClr val="bg1"/>
                </a:solidFill>
              </a:defRPr>
            </a:lvl1pPr>
          </a:lstStyle>
          <a:p>
            <a:r>
              <a:rPr lang="en-US"/>
              <a:t>Click to edit Master title style</a:t>
            </a:r>
            <a:endParaRPr lang="en-US" dirty="0"/>
          </a:p>
        </p:txBody>
      </p:sp>
      <p:sp>
        <p:nvSpPr>
          <p:cNvPr id="3" name="Picture Placeholder 2"/>
          <p:cNvSpPr>
            <a:spLocks noGrp="1" noChangeAspect="1"/>
          </p:cNvSpPr>
          <p:nvPr>
            <p:ph type="pic" idx="1"/>
          </p:nvPr>
        </p:nvSpPr>
        <p:spPr>
          <a:xfrm>
            <a:off x="0" y="0"/>
            <a:ext cx="11292840" cy="5128923"/>
          </a:xfrm>
          <a:solidFill>
            <a:schemeClr val="accent1"/>
          </a:solidFill>
        </p:spPr>
        <p:txBody>
          <a:bodyPr anchor="t"/>
          <a:lstStyle>
            <a:lvl1pPr marL="0" indent="0">
              <a:buNone/>
              <a:defRPr sz="3200">
                <a:solidFill>
                  <a:schemeClr val="bg1"/>
                </a:solidFill>
              </a:defRPr>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en-US" dirty="0"/>
          </a:p>
        </p:txBody>
      </p:sp>
      <p:sp>
        <p:nvSpPr>
          <p:cNvPr id="4" name="Text Placeholder 3"/>
          <p:cNvSpPr>
            <a:spLocks noGrp="1"/>
          </p:cNvSpPr>
          <p:nvPr>
            <p:ph type="body" sz="half" idx="2"/>
          </p:nvPr>
        </p:nvSpPr>
        <p:spPr>
          <a:xfrm>
            <a:off x="914400" y="6108589"/>
            <a:ext cx="9982200" cy="597011"/>
          </a:xfrm>
        </p:spPr>
        <p:txBody>
          <a:bodyPr>
            <a:normAutofit/>
          </a:bodyPr>
          <a:lstStyle>
            <a:lvl1pPr marL="0" indent="0">
              <a:lnSpc>
                <a:spcPct val="100000"/>
              </a:lnSpc>
              <a:spcBef>
                <a:spcPts val="800"/>
              </a:spcBef>
              <a:buNone/>
              <a:defRPr sz="1300">
                <a:solidFill>
                  <a:schemeClr val="bg1">
                    <a:lumMod val="85000"/>
                  </a:schemeClr>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E6440AA-91A0-436F-8FDB-C0F939DCAE21}" type="datetimeFigureOut">
              <a:rPr lang="en-US" dirty="0"/>
              <a:t>9/15/2024</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4FAB73BC-B049-4115-A692-8D63A059BFB8}" type="slidenum">
              <a:rPr lang="en-US" dirty="0"/>
              <a:t>‹#›</a:t>
            </a:fld>
            <a:endParaRPr lang="en-US" dirty="0"/>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C033E54A-A8CA-48C1-9504-691B58049D29}" type="datetimeFigureOut">
              <a:rPr lang="en-US" dirty="0"/>
              <a:t>9/15/2024</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4FAB73BC-B049-4115-A692-8D63A059BFB8}" type="slidenum">
              <a:rPr lang="en-US" dirty="0"/>
              <a:t>‹#›</a:t>
            </a:fld>
            <a:endParaRPr lang="en-US" dirty="0"/>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648700" y="381000"/>
            <a:ext cx="2476500" cy="5897562"/>
          </a:xfrm>
        </p:spPr>
        <p:txBody>
          <a:bodyPr vert="eaVert"/>
          <a:lstStyle/>
          <a:p>
            <a:r>
              <a:rPr lang="en-US"/>
              <a:t>Click to edit Master title style</a:t>
            </a:r>
            <a:endParaRPr lang="en-US" dirty="0"/>
          </a:p>
        </p:txBody>
      </p:sp>
      <p:sp>
        <p:nvSpPr>
          <p:cNvPr id="3" name="Vertical Text Placeholder 2"/>
          <p:cNvSpPr>
            <a:spLocks noGrp="1"/>
          </p:cNvSpPr>
          <p:nvPr>
            <p:ph type="body" orient="vert" idx="1"/>
          </p:nvPr>
        </p:nvSpPr>
        <p:spPr>
          <a:xfrm>
            <a:off x="762000" y="381000"/>
            <a:ext cx="7734300" cy="5897562"/>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B5F6C806-BBF7-471C-9527-881CE2266695}" type="datetimeFigureOut">
              <a:rPr lang="en-US" dirty="0"/>
              <a:t>9/15/2024</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4FAB73BC-B049-4115-A692-8D63A059BFB8}" type="slidenum">
              <a:rPr lang="en-US" dirty="0"/>
              <a:t>‹#›</a:t>
            </a:fld>
            <a:endParaRPr lang="en-US" dirty="0"/>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7" name="Rectangle 6"/>
          <p:cNvSpPr/>
          <p:nvPr/>
        </p:nvSpPr>
        <p:spPr>
          <a:xfrm>
            <a:off x="11292840" y="0"/>
            <a:ext cx="914400" cy="6858000"/>
          </a:xfrm>
          <a:prstGeom prst="rect">
            <a:avLst/>
          </a:prstGeom>
          <a:solidFill>
            <a:schemeClr val="tx2">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Placeholder 1"/>
          <p:cNvSpPr>
            <a:spLocks noGrp="1"/>
          </p:cNvSpPr>
          <p:nvPr>
            <p:ph type="title"/>
          </p:nvPr>
        </p:nvSpPr>
        <p:spPr>
          <a:xfrm>
            <a:off x="1261872" y="365760"/>
            <a:ext cx="9692640" cy="1325562"/>
          </a:xfrm>
          <a:prstGeom prst="rect">
            <a:avLst/>
          </a:prstGeom>
        </p:spPr>
        <p:txBody>
          <a:bodyPr vert="horz" lIns="91440" tIns="45720" rIns="91440" bIns="45720" rtlCol="0" anchor="b">
            <a:normAutofit/>
          </a:bodyPr>
          <a:lstStyle/>
          <a:p>
            <a:r>
              <a:rPr lang="en-US"/>
              <a:t>Click to edit Master title style</a:t>
            </a:r>
            <a:endParaRPr lang="en-US" dirty="0"/>
          </a:p>
        </p:txBody>
      </p:sp>
      <p:sp>
        <p:nvSpPr>
          <p:cNvPr id="3" name="Text Placeholder 2"/>
          <p:cNvSpPr>
            <a:spLocks noGrp="1"/>
          </p:cNvSpPr>
          <p:nvPr>
            <p:ph type="body" idx="1"/>
          </p:nvPr>
        </p:nvSpPr>
        <p:spPr>
          <a:xfrm>
            <a:off x="1261872" y="1828800"/>
            <a:ext cx="8595360" cy="4351337"/>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rot="16200000">
            <a:off x="10797542" y="998537"/>
            <a:ext cx="1904999" cy="365125"/>
          </a:xfrm>
          <a:prstGeom prst="rect">
            <a:avLst/>
          </a:prstGeom>
        </p:spPr>
        <p:txBody>
          <a:bodyPr vert="horz" lIns="91440" tIns="45720" rIns="91440" bIns="45720" rtlCol="0" anchor="ctr"/>
          <a:lstStyle>
            <a:lvl1pPr algn="r">
              <a:defRPr sz="1050" b="0">
                <a:solidFill>
                  <a:schemeClr val="tx2">
                    <a:lumMod val="20000"/>
                    <a:lumOff val="80000"/>
                  </a:schemeClr>
                </a:solidFill>
              </a:defRPr>
            </a:lvl1pPr>
          </a:lstStyle>
          <a:p>
            <a:fld id="{0E59FD0C-5451-4CA0-86AF-E70AE3279989}" type="datetimeFigureOut">
              <a:rPr lang="en-US" dirty="0"/>
              <a:t>9/15/2024</a:t>
            </a:fld>
            <a:endParaRPr lang="en-US" dirty="0"/>
          </a:p>
        </p:txBody>
      </p:sp>
      <p:sp>
        <p:nvSpPr>
          <p:cNvPr id="5" name="Footer Placeholder 4"/>
          <p:cNvSpPr>
            <a:spLocks noGrp="1"/>
          </p:cNvSpPr>
          <p:nvPr>
            <p:ph type="ftr" sz="quarter" idx="3"/>
          </p:nvPr>
        </p:nvSpPr>
        <p:spPr>
          <a:xfrm rot="16200000">
            <a:off x="9959341" y="4046537"/>
            <a:ext cx="3581400" cy="365125"/>
          </a:xfrm>
          <a:prstGeom prst="rect">
            <a:avLst/>
          </a:prstGeom>
        </p:spPr>
        <p:txBody>
          <a:bodyPr vert="horz" lIns="91440" tIns="45720" rIns="91440" bIns="45720" rtlCol="0" anchor="ctr"/>
          <a:lstStyle>
            <a:lvl1pPr algn="l">
              <a:defRPr sz="1050">
                <a:solidFill>
                  <a:schemeClr val="tx2">
                    <a:lumMod val="20000"/>
                    <a:lumOff val="80000"/>
                  </a:schemeClr>
                </a:solidFill>
              </a:defRPr>
            </a:lvl1pPr>
          </a:lstStyle>
          <a:p>
            <a:endParaRPr lang="en-US" dirty="0"/>
          </a:p>
        </p:txBody>
      </p:sp>
      <p:sp>
        <p:nvSpPr>
          <p:cNvPr id="6" name="Slide Number Placeholder 5"/>
          <p:cNvSpPr>
            <a:spLocks noGrp="1"/>
          </p:cNvSpPr>
          <p:nvPr>
            <p:ph type="sldNum" sz="quarter" idx="4"/>
          </p:nvPr>
        </p:nvSpPr>
        <p:spPr>
          <a:xfrm>
            <a:off x="11292840" y="6172200"/>
            <a:ext cx="914400" cy="593725"/>
          </a:xfrm>
          <a:prstGeom prst="rect">
            <a:avLst/>
          </a:prstGeom>
        </p:spPr>
        <p:txBody>
          <a:bodyPr vert="horz" lIns="45720" tIns="45720" rIns="45720" bIns="45720" rtlCol="0" anchor="ctr">
            <a:normAutofit/>
          </a:bodyPr>
          <a:lstStyle>
            <a:lvl1pPr algn="ctr">
              <a:defRPr sz="3600">
                <a:solidFill>
                  <a:schemeClr val="tx2">
                    <a:lumMod val="60000"/>
                    <a:lumOff val="40000"/>
                  </a:schemeClr>
                </a:solidFill>
              </a:defRPr>
            </a:lvl1pPr>
          </a:lstStyle>
          <a:p>
            <a:fld id="{4FAB73BC-B049-4115-A692-8D63A059BFB8}" type="slidenum">
              <a:rPr lang="en-US" dirty="0"/>
              <a:pPr/>
              <a:t>‹#›</a:t>
            </a:fld>
            <a:endParaRPr lang="en-US" dirty="0"/>
          </a:p>
        </p:txBody>
      </p:sp>
    </p:spTree>
  </p:cSld>
  <p:clrMap bg1="lt1" tx1="dk1" bg2="lt2" tx2="dk2" accent1="accent1" accent2="accent2" accent3="accent3" accent4="accent4" accent5="accent5" accent6="accent6" hlink="hlink" folHlink="folHlink"/>
  <p:sldLayoutIdLst>
    <p:sldLayoutId id="2147483841" r:id="rId1"/>
    <p:sldLayoutId id="2147483842" r:id="rId2"/>
    <p:sldLayoutId id="2147483843" r:id="rId3"/>
    <p:sldLayoutId id="2147483844" r:id="rId4"/>
    <p:sldLayoutId id="2147483845" r:id="rId5"/>
    <p:sldLayoutId id="2147483846" r:id="rId6"/>
    <p:sldLayoutId id="2147483847" r:id="rId7"/>
    <p:sldLayoutId id="2147483848" r:id="rId8"/>
    <p:sldLayoutId id="2147483849" r:id="rId9"/>
    <p:sldLayoutId id="2147483850" r:id="rId10"/>
    <p:sldLayoutId id="2147483851" r:id="rId11"/>
  </p:sldLayoutIdLst>
  <p:hf sldNum="0" hdr="0" ftr="0" dt="0"/>
  <p:txStyles>
    <p:titleStyle>
      <a:lvl1pPr algn="l" defTabSz="914400" rtl="0" eaLnBrk="1" latinLnBrk="0" hangingPunct="1">
        <a:lnSpc>
          <a:spcPct val="90000"/>
        </a:lnSpc>
        <a:spcBef>
          <a:spcPct val="0"/>
        </a:spcBef>
        <a:buNone/>
        <a:defRPr sz="4400" kern="1200" spc="-50" baseline="0">
          <a:solidFill>
            <a:schemeClr val="tx1"/>
          </a:solidFill>
          <a:latin typeface="+mj-lt"/>
          <a:ea typeface="+mj-ea"/>
          <a:cs typeface="+mj-cs"/>
        </a:defRPr>
      </a:lvl1pPr>
    </p:titleStyle>
    <p:bodyStyle>
      <a:lvl1pPr marL="182880" indent="-182880" algn="l" defTabSz="914400" rtl="0" eaLnBrk="1" latinLnBrk="0" hangingPunct="1">
        <a:lnSpc>
          <a:spcPct val="95000"/>
        </a:lnSpc>
        <a:spcBef>
          <a:spcPts val="1400"/>
        </a:spcBef>
        <a:spcAft>
          <a:spcPts val="200"/>
        </a:spcAft>
        <a:buClr>
          <a:schemeClr val="accent1"/>
        </a:buClr>
        <a:buSzPct val="80000"/>
        <a:buFont typeface="Arial" pitchFamily="34" charset="0"/>
        <a:buChar char="•"/>
        <a:defRPr sz="1800" kern="1200" spc="10" baseline="0">
          <a:solidFill>
            <a:schemeClr val="tx1"/>
          </a:solidFill>
          <a:latin typeface="+mn-lt"/>
          <a:ea typeface="+mn-ea"/>
          <a:cs typeface="+mn-cs"/>
        </a:defRPr>
      </a:lvl1pPr>
      <a:lvl2pPr marL="457200" indent="-182880" algn="l" defTabSz="914400" rtl="0" eaLnBrk="1" latinLnBrk="0" hangingPunct="1">
        <a:lnSpc>
          <a:spcPct val="90000"/>
        </a:lnSpc>
        <a:spcBef>
          <a:spcPts val="300"/>
        </a:spcBef>
        <a:spcAft>
          <a:spcPts val="300"/>
        </a:spcAft>
        <a:buClr>
          <a:schemeClr val="accent1"/>
        </a:buClr>
        <a:buFont typeface="Wingdings 2" pitchFamily="18" charset="2"/>
        <a:buChar char=""/>
        <a:defRPr sz="1600" kern="1200">
          <a:solidFill>
            <a:schemeClr val="tx1">
              <a:lumMod val="85000"/>
              <a:lumOff val="15000"/>
            </a:schemeClr>
          </a:solidFill>
          <a:latin typeface="+mn-lt"/>
          <a:ea typeface="+mn-ea"/>
          <a:cs typeface="+mn-cs"/>
        </a:defRPr>
      </a:lvl2pPr>
      <a:lvl3pPr marL="731520" indent="-182880" algn="l" defTabSz="914400" rtl="0" eaLnBrk="1" latinLnBrk="0" hangingPunct="1">
        <a:lnSpc>
          <a:spcPct val="90000"/>
        </a:lnSpc>
        <a:spcBef>
          <a:spcPts val="300"/>
        </a:spcBef>
        <a:spcAft>
          <a:spcPts val="300"/>
        </a:spcAft>
        <a:buClr>
          <a:schemeClr val="accent1"/>
        </a:buClr>
        <a:buFont typeface="Wingdings 2" pitchFamily="18" charset="2"/>
        <a:buChar char=""/>
        <a:defRPr sz="1400" kern="1200">
          <a:solidFill>
            <a:schemeClr val="tx1">
              <a:lumMod val="85000"/>
              <a:lumOff val="15000"/>
            </a:schemeClr>
          </a:solidFill>
          <a:latin typeface="+mn-lt"/>
          <a:ea typeface="+mn-ea"/>
          <a:cs typeface="+mn-cs"/>
        </a:defRPr>
      </a:lvl3pPr>
      <a:lvl4pPr marL="1005840" indent="-182880" algn="l" defTabSz="914400" rtl="0" eaLnBrk="1" latinLnBrk="0" hangingPunct="1">
        <a:lnSpc>
          <a:spcPct val="90000"/>
        </a:lnSpc>
        <a:spcBef>
          <a:spcPts val="300"/>
        </a:spcBef>
        <a:spcAft>
          <a:spcPts val="300"/>
        </a:spcAft>
        <a:buClr>
          <a:schemeClr val="accent1"/>
        </a:buClr>
        <a:buFont typeface="Wingdings 2" pitchFamily="18" charset="2"/>
        <a:buChar char=""/>
        <a:defRPr sz="1400" kern="1200">
          <a:solidFill>
            <a:schemeClr val="tx1">
              <a:lumMod val="85000"/>
              <a:lumOff val="15000"/>
            </a:schemeClr>
          </a:solidFill>
          <a:latin typeface="+mn-lt"/>
          <a:ea typeface="+mn-ea"/>
          <a:cs typeface="+mn-cs"/>
        </a:defRPr>
      </a:lvl4pPr>
      <a:lvl5pPr marL="1280160" indent="-182880" algn="l" defTabSz="914400" rtl="0" eaLnBrk="1" latinLnBrk="0" hangingPunct="1">
        <a:lnSpc>
          <a:spcPct val="90000"/>
        </a:lnSpc>
        <a:spcBef>
          <a:spcPts val="300"/>
        </a:spcBef>
        <a:spcAft>
          <a:spcPts val="300"/>
        </a:spcAft>
        <a:buClr>
          <a:schemeClr val="accent1"/>
        </a:buClr>
        <a:buFont typeface="Wingdings 2" pitchFamily="18" charset="2"/>
        <a:buChar char=""/>
        <a:defRPr sz="1400" kern="1200">
          <a:solidFill>
            <a:schemeClr val="tx1">
              <a:lumMod val="85000"/>
              <a:lumOff val="15000"/>
            </a:schemeClr>
          </a:solidFill>
          <a:latin typeface="+mn-lt"/>
          <a:ea typeface="+mn-ea"/>
          <a:cs typeface="+mn-cs"/>
        </a:defRPr>
      </a:lvl5pPr>
      <a:lvl6pPr marL="1600000" indent="-228600" algn="l" defTabSz="914400" rtl="0" eaLnBrk="1" latinLnBrk="0" hangingPunct="1">
        <a:lnSpc>
          <a:spcPct val="90000"/>
        </a:lnSpc>
        <a:spcBef>
          <a:spcPts val="300"/>
        </a:spcBef>
        <a:spcAft>
          <a:spcPts val="300"/>
        </a:spcAft>
        <a:buClr>
          <a:schemeClr val="accent1"/>
        </a:buClr>
        <a:buFont typeface="Wingdings 2" pitchFamily="18" charset="2"/>
        <a:buChar char=""/>
        <a:defRPr sz="1400" kern="1200">
          <a:solidFill>
            <a:schemeClr val="tx1">
              <a:lumMod val="85000"/>
              <a:lumOff val="15000"/>
            </a:schemeClr>
          </a:solidFill>
          <a:latin typeface="+mn-lt"/>
          <a:ea typeface="+mn-ea"/>
          <a:cs typeface="+mn-cs"/>
        </a:defRPr>
      </a:lvl6pPr>
      <a:lvl7pPr marL="1900000" indent="-228600" algn="l" defTabSz="914400" rtl="0" eaLnBrk="1" latinLnBrk="0" hangingPunct="1">
        <a:lnSpc>
          <a:spcPct val="90000"/>
        </a:lnSpc>
        <a:spcBef>
          <a:spcPts val="300"/>
        </a:spcBef>
        <a:spcAft>
          <a:spcPts val="300"/>
        </a:spcAft>
        <a:buClr>
          <a:schemeClr val="accent1"/>
        </a:buClr>
        <a:buFont typeface="Wingdings 2" pitchFamily="18" charset="2"/>
        <a:buChar char=""/>
        <a:defRPr sz="1400" kern="1200">
          <a:solidFill>
            <a:schemeClr val="tx1">
              <a:lumMod val="85000"/>
              <a:lumOff val="15000"/>
            </a:schemeClr>
          </a:solidFill>
          <a:latin typeface="+mn-lt"/>
          <a:ea typeface="+mn-ea"/>
          <a:cs typeface="+mn-cs"/>
        </a:defRPr>
      </a:lvl7pPr>
      <a:lvl8pPr marL="2200000" indent="-228600" algn="l" defTabSz="914400" rtl="0" eaLnBrk="1" latinLnBrk="0" hangingPunct="1">
        <a:lnSpc>
          <a:spcPct val="90000"/>
        </a:lnSpc>
        <a:spcBef>
          <a:spcPts val="300"/>
        </a:spcBef>
        <a:spcAft>
          <a:spcPts val="300"/>
        </a:spcAft>
        <a:buClr>
          <a:schemeClr val="accent1"/>
        </a:buClr>
        <a:buFont typeface="Wingdings 2" pitchFamily="18" charset="2"/>
        <a:buChar char=""/>
        <a:defRPr sz="1400" kern="1200">
          <a:solidFill>
            <a:schemeClr val="tx1">
              <a:lumMod val="85000"/>
              <a:lumOff val="15000"/>
            </a:schemeClr>
          </a:solidFill>
          <a:latin typeface="+mn-lt"/>
          <a:ea typeface="+mn-ea"/>
          <a:cs typeface="+mn-cs"/>
        </a:defRPr>
      </a:lvl8pPr>
      <a:lvl9pPr marL="2500000" indent="-228600" algn="l" defTabSz="914400" rtl="0" eaLnBrk="1" latinLnBrk="0" hangingPunct="1">
        <a:lnSpc>
          <a:spcPct val="90000"/>
        </a:lnSpc>
        <a:spcBef>
          <a:spcPts val="300"/>
        </a:spcBef>
        <a:spcAft>
          <a:spcPts val="300"/>
        </a:spcAft>
        <a:buClr>
          <a:schemeClr val="accent1"/>
        </a:buClr>
        <a:buFont typeface="Wingdings 2" pitchFamily="18" charset="2"/>
        <a:buChar char=""/>
        <a:defRPr sz="1400" kern="1200">
          <a:solidFill>
            <a:schemeClr val="tx1">
              <a:lumMod val="85000"/>
              <a:lumOff val="15000"/>
            </a:schemeClr>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BC52FD6-BE26-CB3A-93A3-9EFAF0CD9CD3}"/>
              </a:ext>
            </a:extLst>
          </p:cNvPr>
          <p:cNvSpPr>
            <a:spLocks noGrp="1"/>
          </p:cNvSpPr>
          <p:nvPr>
            <p:ph type="ctrTitle"/>
          </p:nvPr>
        </p:nvSpPr>
        <p:spPr>
          <a:xfrm>
            <a:off x="2277977" y="221066"/>
            <a:ext cx="7636042" cy="769441"/>
          </a:xfrm>
        </p:spPr>
        <p:txBody>
          <a:bodyPr>
            <a:normAutofit/>
          </a:bodyPr>
          <a:lstStyle/>
          <a:p>
            <a:r>
              <a:rPr lang="en-IN" sz="4800" dirty="0"/>
              <a:t>B.TECH ECE PROJECT-1</a:t>
            </a:r>
          </a:p>
        </p:txBody>
      </p:sp>
      <p:sp>
        <p:nvSpPr>
          <p:cNvPr id="5" name="TextBox 4">
            <a:extLst>
              <a:ext uri="{FF2B5EF4-FFF2-40B4-BE49-F238E27FC236}">
                <a16:creationId xmlns:a16="http://schemas.microsoft.com/office/drawing/2014/main" id="{FEFD98A0-155C-F1F1-1640-5981206AD96D}"/>
              </a:ext>
            </a:extLst>
          </p:cNvPr>
          <p:cNvSpPr txBox="1"/>
          <p:nvPr/>
        </p:nvSpPr>
        <p:spPr>
          <a:xfrm>
            <a:off x="4948987" y="959729"/>
            <a:ext cx="2294021" cy="584775"/>
          </a:xfrm>
          <a:prstGeom prst="rect">
            <a:avLst/>
          </a:prstGeom>
          <a:noFill/>
        </p:spPr>
        <p:txBody>
          <a:bodyPr wrap="square">
            <a:spAutoFit/>
          </a:bodyPr>
          <a:lstStyle/>
          <a:p>
            <a:r>
              <a:rPr lang="en-IN" sz="3200" dirty="0"/>
              <a:t>REVIEW-1</a:t>
            </a:r>
          </a:p>
        </p:txBody>
      </p:sp>
      <p:sp>
        <p:nvSpPr>
          <p:cNvPr id="6" name="Title 1">
            <a:extLst>
              <a:ext uri="{FF2B5EF4-FFF2-40B4-BE49-F238E27FC236}">
                <a16:creationId xmlns:a16="http://schemas.microsoft.com/office/drawing/2014/main" id="{2B1E5832-DE6D-1427-746F-14A450CCED26}"/>
              </a:ext>
            </a:extLst>
          </p:cNvPr>
          <p:cNvSpPr txBox="1">
            <a:spLocks/>
          </p:cNvSpPr>
          <p:nvPr/>
        </p:nvSpPr>
        <p:spPr>
          <a:xfrm>
            <a:off x="1447799" y="2375409"/>
            <a:ext cx="10026319" cy="769441"/>
          </a:xfrm>
          <a:prstGeom prst="rect">
            <a:avLst/>
          </a:prstGeom>
        </p:spPr>
        <p:txBody>
          <a:bodyPr vert="horz" lIns="91440" tIns="45720" rIns="91440" bIns="45720" rtlCol="0" anchor="b">
            <a:normAutofit fontScale="77500" lnSpcReduction="20000"/>
          </a:bodyPr>
          <a:lstStyle>
            <a:lvl1pPr algn="l" defTabSz="914400" rtl="0" eaLnBrk="1" latinLnBrk="0" hangingPunct="1">
              <a:lnSpc>
                <a:spcPct val="85000"/>
              </a:lnSpc>
              <a:spcBef>
                <a:spcPct val="0"/>
              </a:spcBef>
              <a:buNone/>
              <a:defRPr sz="7200" kern="1200" spc="-50" baseline="0">
                <a:solidFill>
                  <a:schemeClr val="tx1"/>
                </a:solidFill>
                <a:latin typeface="+mj-lt"/>
                <a:ea typeface="+mj-ea"/>
                <a:cs typeface="+mj-cs"/>
              </a:defRPr>
            </a:lvl1pPr>
          </a:lstStyle>
          <a:p>
            <a:r>
              <a:rPr lang="en-IN" sz="4800" dirty="0">
                <a:latin typeface="+mn-lt"/>
              </a:rPr>
              <a:t>Power Domain NOMA in 5G Communications</a:t>
            </a:r>
          </a:p>
        </p:txBody>
      </p:sp>
      <p:sp>
        <p:nvSpPr>
          <p:cNvPr id="8" name="TextBox 7">
            <a:extLst>
              <a:ext uri="{FF2B5EF4-FFF2-40B4-BE49-F238E27FC236}">
                <a16:creationId xmlns:a16="http://schemas.microsoft.com/office/drawing/2014/main" id="{E2FE01B7-5DDF-0EB9-1A3F-4AEC2F99551E}"/>
              </a:ext>
            </a:extLst>
          </p:cNvPr>
          <p:cNvSpPr txBox="1"/>
          <p:nvPr/>
        </p:nvSpPr>
        <p:spPr>
          <a:xfrm>
            <a:off x="1564104" y="3144850"/>
            <a:ext cx="9793710" cy="646331"/>
          </a:xfrm>
          <a:prstGeom prst="rect">
            <a:avLst/>
          </a:prstGeom>
          <a:noFill/>
        </p:spPr>
        <p:txBody>
          <a:bodyPr wrap="square">
            <a:spAutoFit/>
          </a:bodyPr>
          <a:lstStyle/>
          <a:p>
            <a:pPr algn="ctr"/>
            <a:r>
              <a:rPr lang="en-US" dirty="0"/>
              <a:t>Power-Domain NOMA in 5G is simulated in MATLAB, and performance is assessed using power allocation optimization, BER, and SINR.</a:t>
            </a:r>
            <a:endParaRPr lang="en-IN" dirty="0"/>
          </a:p>
        </p:txBody>
      </p:sp>
      <p:sp>
        <p:nvSpPr>
          <p:cNvPr id="9" name="TextBox 8">
            <a:extLst>
              <a:ext uri="{FF2B5EF4-FFF2-40B4-BE49-F238E27FC236}">
                <a16:creationId xmlns:a16="http://schemas.microsoft.com/office/drawing/2014/main" id="{9BBED5AF-F34A-36FB-4E29-CE79099878D7}"/>
              </a:ext>
            </a:extLst>
          </p:cNvPr>
          <p:cNvSpPr txBox="1"/>
          <p:nvPr/>
        </p:nvSpPr>
        <p:spPr>
          <a:xfrm>
            <a:off x="934450" y="5029524"/>
            <a:ext cx="4223086" cy="1200329"/>
          </a:xfrm>
          <a:prstGeom prst="rect">
            <a:avLst/>
          </a:prstGeom>
          <a:noFill/>
        </p:spPr>
        <p:txBody>
          <a:bodyPr wrap="square">
            <a:spAutoFit/>
          </a:bodyPr>
          <a:lstStyle/>
          <a:p>
            <a:r>
              <a:rPr lang="en-IN" sz="2400" dirty="0" err="1"/>
              <a:t>B.V.L.Pranavi</a:t>
            </a:r>
            <a:r>
              <a:rPr lang="en-IN" sz="2400" dirty="0"/>
              <a:t> (21BEC0438)</a:t>
            </a:r>
          </a:p>
          <a:p>
            <a:r>
              <a:rPr lang="en-IN" sz="2400" dirty="0" err="1"/>
              <a:t>Anushka.J</a:t>
            </a:r>
            <a:r>
              <a:rPr lang="en-IN" sz="2400" dirty="0"/>
              <a:t> (21BEC0265)</a:t>
            </a:r>
          </a:p>
          <a:p>
            <a:r>
              <a:rPr lang="en-IN" sz="2400" dirty="0" err="1"/>
              <a:t>Preethi.K</a:t>
            </a:r>
            <a:r>
              <a:rPr lang="en-IN" sz="2400" dirty="0"/>
              <a:t> (21BEC0749)</a:t>
            </a:r>
          </a:p>
        </p:txBody>
      </p:sp>
      <p:sp>
        <p:nvSpPr>
          <p:cNvPr id="11" name="TextBox 10">
            <a:extLst>
              <a:ext uri="{FF2B5EF4-FFF2-40B4-BE49-F238E27FC236}">
                <a16:creationId xmlns:a16="http://schemas.microsoft.com/office/drawing/2014/main" id="{D3C27942-E62D-4073-FB57-8C59D38AA294}"/>
              </a:ext>
            </a:extLst>
          </p:cNvPr>
          <p:cNvSpPr txBox="1"/>
          <p:nvPr/>
        </p:nvSpPr>
        <p:spPr>
          <a:xfrm>
            <a:off x="7034465" y="4844859"/>
            <a:ext cx="4669855" cy="1569660"/>
          </a:xfrm>
          <a:prstGeom prst="rect">
            <a:avLst/>
          </a:prstGeom>
          <a:noFill/>
        </p:spPr>
        <p:txBody>
          <a:bodyPr wrap="square">
            <a:spAutoFit/>
          </a:bodyPr>
          <a:lstStyle/>
          <a:p>
            <a:r>
              <a:rPr lang="en-IN" sz="2400" dirty="0" err="1"/>
              <a:t>Dr.</a:t>
            </a:r>
            <a:r>
              <a:rPr lang="en-IN" sz="2400" dirty="0"/>
              <a:t> </a:t>
            </a:r>
            <a:r>
              <a:rPr lang="en-IN" sz="2400" dirty="0" err="1"/>
              <a:t>Indrasen</a:t>
            </a:r>
            <a:r>
              <a:rPr lang="en-IN" sz="2400" dirty="0"/>
              <a:t> Singh</a:t>
            </a:r>
          </a:p>
          <a:p>
            <a:r>
              <a:rPr lang="en-IN" sz="2400" dirty="0"/>
              <a:t>Assistant Professor Sr. Grade 2</a:t>
            </a:r>
          </a:p>
          <a:p>
            <a:r>
              <a:rPr lang="en-IN" sz="2400" dirty="0"/>
              <a:t>Department of Embedded Technology</a:t>
            </a:r>
          </a:p>
        </p:txBody>
      </p:sp>
    </p:spTree>
    <p:extLst>
      <p:ext uri="{BB962C8B-B14F-4D97-AF65-F5344CB8AC3E}">
        <p14:creationId xmlns:p14="http://schemas.microsoft.com/office/powerpoint/2010/main" val="4156895913"/>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0D3C85E-7C08-BADA-9471-83AF6611A198}"/>
              </a:ext>
            </a:extLst>
          </p:cNvPr>
          <p:cNvSpPr>
            <a:spLocks noGrp="1"/>
          </p:cNvSpPr>
          <p:nvPr>
            <p:ph type="title"/>
          </p:nvPr>
        </p:nvSpPr>
        <p:spPr>
          <a:xfrm>
            <a:off x="1261872" y="15082"/>
            <a:ext cx="8780486" cy="1325562"/>
          </a:xfrm>
        </p:spPr>
        <p:txBody>
          <a:bodyPr>
            <a:normAutofit/>
          </a:bodyPr>
          <a:lstStyle/>
          <a:p>
            <a:r>
              <a:rPr lang="en-IN" sz="6000" dirty="0"/>
              <a:t>LITERATURE SURVEY</a:t>
            </a:r>
          </a:p>
        </p:txBody>
      </p:sp>
      <p:sp>
        <p:nvSpPr>
          <p:cNvPr id="3" name="Content Placeholder 2">
            <a:extLst>
              <a:ext uri="{FF2B5EF4-FFF2-40B4-BE49-F238E27FC236}">
                <a16:creationId xmlns:a16="http://schemas.microsoft.com/office/drawing/2014/main" id="{A46D6AE9-506D-8816-48E7-909FC31AE4EA}"/>
              </a:ext>
            </a:extLst>
          </p:cNvPr>
          <p:cNvSpPr>
            <a:spLocks noGrp="1"/>
          </p:cNvSpPr>
          <p:nvPr>
            <p:ph idx="1"/>
          </p:nvPr>
        </p:nvSpPr>
        <p:spPr>
          <a:xfrm>
            <a:off x="1446998" y="1606299"/>
            <a:ext cx="8595360" cy="5236619"/>
          </a:xfrm>
        </p:spPr>
        <p:txBody>
          <a:bodyPr>
            <a:normAutofit fontScale="70000" lnSpcReduction="20000"/>
          </a:bodyPr>
          <a:lstStyle/>
          <a:p>
            <a:pPr>
              <a:lnSpc>
                <a:spcPct val="107000"/>
              </a:lnSpc>
              <a:spcAft>
                <a:spcPts val="800"/>
              </a:spcAft>
            </a:pPr>
            <a:r>
              <a:rPr lang="en-IN" sz="3100" kern="100" dirty="0">
                <a:effectLst/>
                <a:latin typeface="Calibri" panose="020F0502020204030204" pitchFamily="34" charset="0"/>
                <a:ea typeface="Calibri" panose="020F0502020204030204" pitchFamily="34" charset="0"/>
                <a:cs typeface="Times New Roman" panose="02020603050405020304" pitchFamily="18" charset="0"/>
              </a:rPr>
              <a:t>5G communication is a proposed solution to improve infrastructure: Non-Orthogonal Multiple Access (NOMA). Power-domain multiplexing is used in NOMA to let numerous users share the same time-frequency resources, but in Orthogonal numerous Access (OMA) methods like FDMA, TDMA, and CDMA, which assign orthogonal resources to separate users. This leads to enhanced system capacity, high connectivity and better spectrum efficiency—especially considering the increasing demand for 5G networks.</a:t>
            </a:r>
          </a:p>
          <a:p>
            <a:pPr>
              <a:lnSpc>
                <a:spcPct val="107000"/>
              </a:lnSpc>
              <a:spcAft>
                <a:spcPts val="800"/>
              </a:spcAft>
            </a:pPr>
            <a:r>
              <a:rPr lang="en-IN" sz="3100" kern="100" dirty="0">
                <a:effectLst/>
                <a:latin typeface="Calibri" panose="020F0502020204030204" pitchFamily="34" charset="0"/>
                <a:ea typeface="Calibri" panose="020F0502020204030204" pitchFamily="34" charset="0"/>
                <a:cs typeface="Times New Roman" panose="02020603050405020304" pitchFamily="18" charset="0"/>
              </a:rPr>
              <a:t>According to the channel circumstances, NOMA assigns users to different power levels. Users with poorer channel conditions are assigned greater power levels, while those with better circumstances are assigned lower power levels. By using this method along with successive interference cancellation (SIC) at the receiver and superposition coding (SC) at the transmitter, NOMA can increase the system’s throughput and spectral efficiency. It also reduces the latency</a:t>
            </a:r>
          </a:p>
          <a:p>
            <a:pPr marL="0" indent="0">
              <a:buNone/>
            </a:pPr>
            <a:endParaRPr lang="en-IN" dirty="0"/>
          </a:p>
        </p:txBody>
      </p:sp>
    </p:spTree>
    <p:extLst>
      <p:ext uri="{BB962C8B-B14F-4D97-AF65-F5344CB8AC3E}">
        <p14:creationId xmlns:p14="http://schemas.microsoft.com/office/powerpoint/2010/main" val="2167686536"/>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FDEF979-65AA-7305-A0CB-118E436DE1EB}"/>
              </a:ext>
            </a:extLst>
          </p:cNvPr>
          <p:cNvSpPr>
            <a:spLocks noGrp="1"/>
          </p:cNvSpPr>
          <p:nvPr>
            <p:ph type="title"/>
          </p:nvPr>
        </p:nvSpPr>
        <p:spPr>
          <a:xfrm>
            <a:off x="1166180" y="15082"/>
            <a:ext cx="8786743" cy="1325562"/>
          </a:xfrm>
        </p:spPr>
        <p:txBody>
          <a:bodyPr>
            <a:normAutofit/>
          </a:bodyPr>
          <a:lstStyle/>
          <a:p>
            <a:r>
              <a:rPr lang="en-IN" sz="6000" dirty="0"/>
              <a:t>LITERATURE SURVEY</a:t>
            </a:r>
          </a:p>
        </p:txBody>
      </p:sp>
      <p:sp>
        <p:nvSpPr>
          <p:cNvPr id="3" name="Content Placeholder 2">
            <a:extLst>
              <a:ext uri="{FF2B5EF4-FFF2-40B4-BE49-F238E27FC236}">
                <a16:creationId xmlns:a16="http://schemas.microsoft.com/office/drawing/2014/main" id="{73737AE2-4E15-4369-C0A6-0C77329E19BA}"/>
              </a:ext>
            </a:extLst>
          </p:cNvPr>
          <p:cNvSpPr>
            <a:spLocks noGrp="1"/>
          </p:cNvSpPr>
          <p:nvPr>
            <p:ph idx="1"/>
          </p:nvPr>
        </p:nvSpPr>
        <p:spPr>
          <a:xfrm>
            <a:off x="1261872" y="1340644"/>
            <a:ext cx="8595360" cy="5332872"/>
          </a:xfrm>
        </p:spPr>
        <p:txBody>
          <a:bodyPr>
            <a:normAutofit/>
          </a:bodyPr>
          <a:lstStyle/>
          <a:p>
            <a:pPr>
              <a:lnSpc>
                <a:spcPct val="107000"/>
              </a:lnSpc>
              <a:spcAft>
                <a:spcPts val="800"/>
              </a:spcAft>
            </a:pPr>
            <a:r>
              <a:rPr lang="en-IN" b="1" kern="100" dirty="0">
                <a:effectLst/>
                <a:latin typeface="Calibri" panose="020F0502020204030204" pitchFamily="34" charset="0"/>
                <a:ea typeface="Calibri" panose="020F0502020204030204" pitchFamily="34" charset="0"/>
                <a:cs typeface="Times New Roman" panose="02020603050405020304" pitchFamily="18" charset="0"/>
              </a:rPr>
              <a:t>Key Research Areas:</a:t>
            </a:r>
            <a:endParaRPr lang="en-IN" kern="100" dirty="0">
              <a:effectLst/>
              <a:latin typeface="Calibri" panose="020F0502020204030204" pitchFamily="34" charset="0"/>
              <a:ea typeface="Calibri" panose="020F0502020204030204" pitchFamily="34" charset="0"/>
              <a:cs typeface="Times New Roman" panose="02020603050405020304" pitchFamily="18" charset="0"/>
            </a:endParaRPr>
          </a:p>
          <a:p>
            <a:pPr>
              <a:lnSpc>
                <a:spcPct val="107000"/>
              </a:lnSpc>
              <a:spcAft>
                <a:spcPts val="800"/>
              </a:spcAft>
            </a:pPr>
            <a:r>
              <a:rPr lang="en-IN" b="1" kern="100" dirty="0">
                <a:effectLst/>
                <a:latin typeface="Calibri" panose="020F0502020204030204" pitchFamily="34" charset="0"/>
                <a:ea typeface="Calibri" panose="020F0502020204030204" pitchFamily="34" charset="0"/>
                <a:cs typeface="Times New Roman" panose="02020603050405020304" pitchFamily="18" charset="0"/>
              </a:rPr>
              <a:t>Power Allocation:</a:t>
            </a:r>
            <a:r>
              <a:rPr lang="en-IN" kern="100" dirty="0">
                <a:effectLst/>
                <a:latin typeface="Calibri" panose="020F0502020204030204" pitchFamily="34" charset="0"/>
                <a:ea typeface="Calibri" panose="020F0502020204030204" pitchFamily="34" charset="0"/>
                <a:cs typeface="Times New Roman" panose="02020603050405020304" pitchFamily="18" charset="0"/>
              </a:rPr>
              <a:t> Power allocation is one of the key factors determining the performance of NOMA systems. Research shows that allocating higher power to far users and lower power to near users can optimize the trade-off between system capacity and outage probability. Fair power allocation schemes have been developed to ensure user fairness while increasing spectral efficiency</a:t>
            </a:r>
          </a:p>
          <a:p>
            <a:pPr>
              <a:lnSpc>
                <a:spcPct val="107000"/>
              </a:lnSpc>
              <a:spcAft>
                <a:spcPts val="800"/>
              </a:spcAft>
            </a:pPr>
            <a:r>
              <a:rPr lang="en-IN" b="1" kern="100" dirty="0">
                <a:effectLst/>
                <a:latin typeface="Calibri" panose="020F0502020204030204" pitchFamily="34" charset="0"/>
                <a:ea typeface="Calibri" panose="020F0502020204030204" pitchFamily="34" charset="0"/>
                <a:cs typeface="Times New Roman" panose="02020603050405020304" pitchFamily="18" charset="0"/>
              </a:rPr>
              <a:t>MIMO Integration:</a:t>
            </a:r>
            <a:r>
              <a:rPr lang="en-IN" kern="100" dirty="0">
                <a:effectLst/>
                <a:latin typeface="Calibri" panose="020F0502020204030204" pitchFamily="34" charset="0"/>
                <a:ea typeface="Calibri" panose="020F0502020204030204" pitchFamily="34" charset="0"/>
                <a:cs typeface="Times New Roman" panose="02020603050405020304" pitchFamily="18" charset="0"/>
              </a:rPr>
              <a:t> The integration of NOMA with Multiple-Input Multiple-Output (MIMO) systems further enhances its performance. MIMO-NOMA can handle more users by using multiple antennas to support simultaneous transmissions. This combination increases system capacity and reduces error rates in challenging channel conditions</a:t>
            </a:r>
          </a:p>
          <a:p>
            <a:r>
              <a:rPr lang="en-IN" b="1" dirty="0">
                <a:effectLst/>
                <a:latin typeface="Calibri" panose="020F0502020204030204" pitchFamily="34" charset="0"/>
                <a:ea typeface="Calibri" panose="020F0502020204030204" pitchFamily="34" charset="0"/>
                <a:cs typeface="Times New Roman" panose="02020603050405020304" pitchFamily="18" charset="0"/>
              </a:rPr>
              <a:t>Performance in Different Channels:</a:t>
            </a:r>
            <a:r>
              <a:rPr lang="en-IN" dirty="0">
                <a:effectLst/>
                <a:latin typeface="Calibri" panose="020F0502020204030204" pitchFamily="34" charset="0"/>
                <a:ea typeface="Calibri" panose="020F0502020204030204" pitchFamily="34" charset="0"/>
                <a:cs typeface="Times New Roman" panose="02020603050405020304" pitchFamily="18" charset="0"/>
              </a:rPr>
              <a:t> NOMA's performance has been evaluated in various channel models, including AWGN, Rayleigh, and Rician channels. Rician channels have a lower bit error rate (BER) than Rayleigh channels because they offer a more prominent line-of-sight path and better signal quality. </a:t>
            </a:r>
            <a:endParaRPr lang="en-IN" dirty="0"/>
          </a:p>
        </p:txBody>
      </p:sp>
    </p:spTree>
    <p:extLst>
      <p:ext uri="{BB962C8B-B14F-4D97-AF65-F5344CB8AC3E}">
        <p14:creationId xmlns:p14="http://schemas.microsoft.com/office/powerpoint/2010/main" val="139790580"/>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4C925E8-2875-D548-B4CD-F4693E920F30}"/>
              </a:ext>
            </a:extLst>
          </p:cNvPr>
          <p:cNvSpPr>
            <a:spLocks noGrp="1"/>
          </p:cNvSpPr>
          <p:nvPr>
            <p:ph type="title"/>
          </p:nvPr>
        </p:nvSpPr>
        <p:spPr>
          <a:xfrm>
            <a:off x="1162812" y="15082"/>
            <a:ext cx="8793480" cy="1325562"/>
          </a:xfrm>
        </p:spPr>
        <p:txBody>
          <a:bodyPr>
            <a:normAutofit/>
          </a:bodyPr>
          <a:lstStyle/>
          <a:p>
            <a:r>
              <a:rPr lang="en-IN" sz="6000" dirty="0"/>
              <a:t>LITERATURE SURVEY</a:t>
            </a:r>
          </a:p>
        </p:txBody>
      </p:sp>
      <p:sp>
        <p:nvSpPr>
          <p:cNvPr id="3" name="Content Placeholder 2">
            <a:extLst>
              <a:ext uri="{FF2B5EF4-FFF2-40B4-BE49-F238E27FC236}">
                <a16:creationId xmlns:a16="http://schemas.microsoft.com/office/drawing/2014/main" id="{4842A547-1D1D-72DA-FD87-CC7377E17B38}"/>
              </a:ext>
            </a:extLst>
          </p:cNvPr>
          <p:cNvSpPr>
            <a:spLocks noGrp="1"/>
          </p:cNvSpPr>
          <p:nvPr>
            <p:ph idx="1"/>
          </p:nvPr>
        </p:nvSpPr>
        <p:spPr/>
        <p:txBody>
          <a:bodyPr/>
          <a:lstStyle/>
          <a:p>
            <a:pPr marL="0" indent="0">
              <a:lnSpc>
                <a:spcPct val="107000"/>
              </a:lnSpc>
              <a:spcAft>
                <a:spcPts val="800"/>
              </a:spcAft>
              <a:buNone/>
            </a:pPr>
            <a:r>
              <a:rPr lang="en-IN" sz="2000" b="1" kern="100" dirty="0">
                <a:effectLst/>
                <a:latin typeface="Calibri" panose="020F0502020204030204" pitchFamily="34" charset="0"/>
                <a:ea typeface="Calibri" panose="020F0502020204030204" pitchFamily="34" charset="0"/>
                <a:cs typeface="Times New Roman" panose="02020603050405020304" pitchFamily="18" charset="0"/>
              </a:rPr>
              <a:t>Disadvantages:</a:t>
            </a:r>
            <a:r>
              <a:rPr lang="en-IN" sz="2000" b="1" kern="100" dirty="0">
                <a:latin typeface="Calibri" panose="020F0502020204030204" pitchFamily="34" charset="0"/>
                <a:ea typeface="Calibri" panose="020F0502020204030204" pitchFamily="34" charset="0"/>
                <a:cs typeface="Times New Roman" panose="02020603050405020304" pitchFamily="18" charset="0"/>
              </a:rPr>
              <a:t> </a:t>
            </a:r>
            <a:r>
              <a:rPr lang="en-IN" sz="2000" kern="100" dirty="0">
                <a:effectLst/>
                <a:latin typeface="Calibri" panose="020F0502020204030204" pitchFamily="34" charset="0"/>
                <a:ea typeface="Calibri" panose="020F0502020204030204" pitchFamily="34" charset="0"/>
                <a:cs typeface="Times New Roman" panose="02020603050405020304" pitchFamily="18" charset="0"/>
              </a:rPr>
              <a:t>Despite its benefits, NOMA has numerous drawbacks.</a:t>
            </a:r>
          </a:p>
          <a:p>
            <a:pPr>
              <a:lnSpc>
                <a:spcPct val="107000"/>
              </a:lnSpc>
              <a:spcAft>
                <a:spcPts val="800"/>
              </a:spcAft>
            </a:pPr>
            <a:r>
              <a:rPr lang="en-IN" sz="2000" b="1" kern="100" dirty="0">
                <a:effectLst/>
                <a:latin typeface="Calibri" panose="020F0502020204030204" pitchFamily="34" charset="0"/>
                <a:ea typeface="Calibri" panose="020F0502020204030204" pitchFamily="34" charset="0"/>
                <a:cs typeface="Times New Roman" panose="02020603050405020304" pitchFamily="18" charset="0"/>
              </a:rPr>
              <a:t>Interference Management: </a:t>
            </a:r>
            <a:r>
              <a:rPr lang="en-IN" sz="2000" kern="100" dirty="0">
                <a:effectLst/>
                <a:latin typeface="Calibri" panose="020F0502020204030204" pitchFamily="34" charset="0"/>
                <a:ea typeface="Calibri" panose="020F0502020204030204" pitchFamily="34" charset="0"/>
                <a:cs typeface="Times New Roman" panose="02020603050405020304" pitchFamily="18" charset="0"/>
              </a:rPr>
              <a:t>Controlling interference between users who are sharing the same resources is essential. SIC complicates receiver design but is necessary for accurate signal decoding.</a:t>
            </a:r>
          </a:p>
          <a:p>
            <a:pPr>
              <a:lnSpc>
                <a:spcPct val="107000"/>
              </a:lnSpc>
              <a:spcAft>
                <a:spcPts val="800"/>
              </a:spcAft>
            </a:pPr>
            <a:r>
              <a:rPr lang="en-IN" sz="2000" b="1" kern="100" dirty="0">
                <a:effectLst/>
                <a:latin typeface="Calibri" panose="020F0502020204030204" pitchFamily="34" charset="0"/>
                <a:ea typeface="Calibri" panose="020F0502020204030204" pitchFamily="34" charset="0"/>
                <a:cs typeface="Times New Roman" panose="02020603050405020304" pitchFamily="18" charset="0"/>
              </a:rPr>
              <a:t>User Fairness:</a:t>
            </a:r>
            <a:r>
              <a:rPr lang="en-IN" sz="2000" kern="100" dirty="0">
                <a:effectLst/>
                <a:latin typeface="Calibri" panose="020F0502020204030204" pitchFamily="34" charset="0"/>
                <a:ea typeface="Calibri" panose="020F0502020204030204" pitchFamily="34" charset="0"/>
                <a:cs typeface="Times New Roman" panose="02020603050405020304" pitchFamily="18" charset="0"/>
              </a:rPr>
              <a:t> It is still difficult to provide equality amongst users with varying channel conditions and power levels. Current research tries to optimize power distribution to provide dependable communication for both nearby and distant users.</a:t>
            </a:r>
            <a:br>
              <a:rPr lang="en-IN" sz="2000" kern="100" dirty="0">
                <a:effectLst/>
                <a:latin typeface="Calibri" panose="020F0502020204030204" pitchFamily="34" charset="0"/>
                <a:ea typeface="Calibri" panose="020F0502020204030204" pitchFamily="34" charset="0"/>
                <a:cs typeface="Times New Roman" panose="02020603050405020304" pitchFamily="18" charset="0"/>
              </a:rPr>
            </a:br>
            <a:r>
              <a:rPr lang="en-IN" sz="2000" b="1" kern="100" dirty="0">
                <a:effectLst/>
                <a:latin typeface="Calibri" panose="020F0502020204030204" pitchFamily="34" charset="0"/>
                <a:ea typeface="Calibri" panose="020F0502020204030204" pitchFamily="34" charset="0"/>
                <a:cs typeface="Times New Roman" panose="02020603050405020304" pitchFamily="18" charset="0"/>
              </a:rPr>
              <a:t>Resource Allocation:</a:t>
            </a:r>
            <a:r>
              <a:rPr lang="en-IN" sz="2000" kern="100" dirty="0">
                <a:effectLst/>
                <a:latin typeface="Calibri" panose="020F0502020204030204" pitchFamily="34" charset="0"/>
                <a:ea typeface="Calibri" panose="020F0502020204030204" pitchFamily="34" charset="0"/>
                <a:cs typeface="Times New Roman" panose="02020603050405020304" pitchFamily="18" charset="0"/>
              </a:rPr>
              <a:t> To balance capacity, fairness, and energy efficiency in NOMA systems, effective resource allocation mechanisms are required.​</a:t>
            </a:r>
          </a:p>
          <a:p>
            <a:endParaRPr lang="en-IN" dirty="0"/>
          </a:p>
        </p:txBody>
      </p:sp>
    </p:spTree>
    <p:extLst>
      <p:ext uri="{BB962C8B-B14F-4D97-AF65-F5344CB8AC3E}">
        <p14:creationId xmlns:p14="http://schemas.microsoft.com/office/powerpoint/2010/main" val="10035868"/>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FB21637-7ED1-8FC8-D9EA-41EC9AF63E5C}"/>
              </a:ext>
            </a:extLst>
          </p:cNvPr>
          <p:cNvSpPr>
            <a:spLocks noGrp="1"/>
          </p:cNvSpPr>
          <p:nvPr>
            <p:ph type="title"/>
          </p:nvPr>
        </p:nvSpPr>
        <p:spPr>
          <a:xfrm>
            <a:off x="1473708" y="-167640"/>
            <a:ext cx="8171688" cy="1325562"/>
          </a:xfrm>
        </p:spPr>
        <p:txBody>
          <a:bodyPr>
            <a:normAutofit/>
          </a:bodyPr>
          <a:lstStyle/>
          <a:p>
            <a:r>
              <a:rPr lang="en-IN" sz="6000" dirty="0"/>
              <a:t>SOFTWARE DETAILS</a:t>
            </a:r>
          </a:p>
        </p:txBody>
      </p:sp>
      <p:sp>
        <p:nvSpPr>
          <p:cNvPr id="3" name="Content Placeholder 2">
            <a:extLst>
              <a:ext uri="{FF2B5EF4-FFF2-40B4-BE49-F238E27FC236}">
                <a16:creationId xmlns:a16="http://schemas.microsoft.com/office/drawing/2014/main" id="{A519C663-6311-25CC-CFB0-A64CB8DC6E57}"/>
              </a:ext>
            </a:extLst>
          </p:cNvPr>
          <p:cNvSpPr>
            <a:spLocks noGrp="1"/>
          </p:cNvSpPr>
          <p:nvPr>
            <p:ph idx="1"/>
          </p:nvPr>
        </p:nvSpPr>
        <p:spPr/>
        <p:txBody>
          <a:bodyPr/>
          <a:lstStyle/>
          <a:p>
            <a:endParaRPr lang="en-IN"/>
          </a:p>
        </p:txBody>
      </p:sp>
    </p:spTree>
    <p:extLst>
      <p:ext uri="{BB962C8B-B14F-4D97-AF65-F5344CB8AC3E}">
        <p14:creationId xmlns:p14="http://schemas.microsoft.com/office/powerpoint/2010/main" val="4075903384"/>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270B2FB-7667-1516-008B-1FBEB8C57E4A}"/>
              </a:ext>
            </a:extLst>
          </p:cNvPr>
          <p:cNvSpPr>
            <a:spLocks noGrp="1"/>
          </p:cNvSpPr>
          <p:nvPr>
            <p:ph type="title"/>
          </p:nvPr>
        </p:nvSpPr>
        <p:spPr>
          <a:xfrm>
            <a:off x="3625596" y="-311943"/>
            <a:ext cx="4940808" cy="1325562"/>
          </a:xfrm>
        </p:spPr>
        <p:txBody>
          <a:bodyPr>
            <a:normAutofit/>
          </a:bodyPr>
          <a:lstStyle/>
          <a:p>
            <a:r>
              <a:rPr lang="en-IN" sz="6000" dirty="0"/>
              <a:t>OBJECTIVE</a:t>
            </a:r>
          </a:p>
        </p:txBody>
      </p:sp>
      <p:sp>
        <p:nvSpPr>
          <p:cNvPr id="3" name="Content Placeholder 2">
            <a:extLst>
              <a:ext uri="{FF2B5EF4-FFF2-40B4-BE49-F238E27FC236}">
                <a16:creationId xmlns:a16="http://schemas.microsoft.com/office/drawing/2014/main" id="{4E8B17AD-A43A-41EB-BD55-D8DE4B8DABE7}"/>
              </a:ext>
            </a:extLst>
          </p:cNvPr>
          <p:cNvSpPr>
            <a:spLocks noGrp="1"/>
          </p:cNvSpPr>
          <p:nvPr>
            <p:ph idx="1"/>
          </p:nvPr>
        </p:nvSpPr>
        <p:spPr>
          <a:xfrm>
            <a:off x="1530096" y="1142682"/>
            <a:ext cx="9131808" cy="5471160"/>
          </a:xfrm>
        </p:spPr>
        <p:txBody>
          <a:bodyPr>
            <a:noAutofit/>
          </a:bodyPr>
          <a:lstStyle/>
          <a:p>
            <a:pPr marL="0" indent="0">
              <a:lnSpc>
                <a:spcPct val="107000"/>
              </a:lnSpc>
              <a:spcAft>
                <a:spcPts val="800"/>
              </a:spcAft>
              <a:buNone/>
            </a:pPr>
            <a:r>
              <a:rPr lang="en-IN" sz="1900" kern="100" dirty="0">
                <a:effectLst/>
                <a:latin typeface="Calibri" panose="020F0502020204030204" pitchFamily="34" charset="0"/>
                <a:ea typeface="Calibri" panose="020F0502020204030204" pitchFamily="34" charset="0"/>
                <a:cs typeface="Times New Roman" panose="02020603050405020304" pitchFamily="18" charset="0"/>
              </a:rPr>
              <a:t>Analysing the possibilities and difficulties of Power-Domain Non-Orthogonal Multiple Access (NOMA) in 5G networks is the main goal of this study. Its specific objectives are to:</a:t>
            </a:r>
          </a:p>
          <a:p>
            <a:pPr>
              <a:lnSpc>
                <a:spcPct val="107000"/>
              </a:lnSpc>
              <a:spcAft>
                <a:spcPts val="800"/>
              </a:spcAft>
            </a:pPr>
            <a:r>
              <a:rPr lang="en-IN" sz="1900" b="1" kern="100" dirty="0">
                <a:effectLst/>
                <a:latin typeface="Calibri" panose="020F0502020204030204" pitchFamily="34" charset="0"/>
                <a:ea typeface="Calibri" panose="020F0502020204030204" pitchFamily="34" charset="0"/>
                <a:cs typeface="Times New Roman" panose="02020603050405020304" pitchFamily="18" charset="0"/>
              </a:rPr>
              <a:t>Increase System Capacity and Spectral Efficiency:</a:t>
            </a:r>
            <a:r>
              <a:rPr lang="en-IN" sz="1900" kern="100" dirty="0">
                <a:effectLst/>
                <a:latin typeface="Calibri" panose="020F0502020204030204" pitchFamily="34" charset="0"/>
                <a:ea typeface="Calibri" panose="020F0502020204030204" pitchFamily="34" charset="0"/>
                <a:cs typeface="Times New Roman" panose="02020603050405020304" pitchFamily="18" charset="0"/>
              </a:rPr>
              <a:t> Examine how NOMA can improve system capacity by allowing numerous users to share time-frequency resources, which will boost spectral efficiency.​</a:t>
            </a:r>
          </a:p>
          <a:p>
            <a:pPr>
              <a:lnSpc>
                <a:spcPct val="107000"/>
              </a:lnSpc>
              <a:spcAft>
                <a:spcPts val="800"/>
              </a:spcAft>
            </a:pPr>
            <a:r>
              <a:rPr lang="en-IN" sz="1900" b="1" kern="100" dirty="0">
                <a:effectLst/>
                <a:latin typeface="Calibri" panose="020F0502020204030204" pitchFamily="34" charset="0"/>
                <a:ea typeface="Calibri" panose="020F0502020204030204" pitchFamily="34" charset="0"/>
                <a:cs typeface="Times New Roman" panose="02020603050405020304" pitchFamily="18" charset="0"/>
              </a:rPr>
              <a:t>Lower Bit Error Rate (BER):</a:t>
            </a:r>
            <a:r>
              <a:rPr lang="en-IN" sz="1900" kern="100" dirty="0">
                <a:effectLst/>
                <a:latin typeface="Calibri" panose="020F0502020204030204" pitchFamily="34" charset="0"/>
                <a:ea typeface="Calibri" panose="020F0502020204030204" pitchFamily="34" charset="0"/>
                <a:cs typeface="Times New Roman" panose="02020603050405020304" pitchFamily="18" charset="0"/>
              </a:rPr>
              <a:t> To reduce BER and boost data transmission reliability, examine NOMA's performance in AWGN, Rayleigh, and Rician channel conditions.</a:t>
            </a:r>
          </a:p>
          <a:p>
            <a:pPr>
              <a:lnSpc>
                <a:spcPct val="107000"/>
              </a:lnSpc>
              <a:spcAft>
                <a:spcPts val="800"/>
              </a:spcAft>
            </a:pPr>
            <a:r>
              <a:rPr lang="en-IN" sz="1900" b="1" kern="100" dirty="0">
                <a:effectLst/>
                <a:latin typeface="Calibri" panose="020F0502020204030204" pitchFamily="34" charset="0"/>
                <a:ea typeface="Calibri" panose="020F0502020204030204" pitchFamily="34" charset="0"/>
                <a:cs typeface="Times New Roman" panose="02020603050405020304" pitchFamily="18" charset="0"/>
              </a:rPr>
              <a:t>Enhance Power Allocation:</a:t>
            </a:r>
            <a:r>
              <a:rPr lang="en-IN" sz="1900" kern="100" dirty="0">
                <a:effectLst/>
                <a:latin typeface="Calibri" panose="020F0502020204030204" pitchFamily="34" charset="0"/>
                <a:ea typeface="Calibri" panose="020F0502020204030204" pitchFamily="34" charset="0"/>
                <a:cs typeface="Times New Roman" panose="02020603050405020304" pitchFamily="18" charset="0"/>
              </a:rPr>
              <a:t> Look into solutions for power allocation that guarantee equitable distribution between nearby and distant customers, with the goals of achieving user fairness, minimizing the likelihood of an outage, and balancing system capacity.</a:t>
            </a:r>
          </a:p>
          <a:p>
            <a:r>
              <a:rPr lang="en-IN" sz="1900" b="1" dirty="0">
                <a:effectLst/>
                <a:latin typeface="Calibri" panose="020F0502020204030204" pitchFamily="34" charset="0"/>
                <a:ea typeface="Calibri" panose="020F0502020204030204" pitchFamily="34" charset="0"/>
                <a:cs typeface="Times New Roman" panose="02020603050405020304" pitchFamily="18" charset="0"/>
              </a:rPr>
              <a:t>Assessing the Integration of NOMA-MIMO:</a:t>
            </a:r>
            <a:r>
              <a:rPr lang="en-IN" sz="1900" dirty="0">
                <a:effectLst/>
                <a:latin typeface="Calibri" panose="020F0502020204030204" pitchFamily="34" charset="0"/>
                <a:ea typeface="Calibri" panose="020F0502020204030204" pitchFamily="34" charset="0"/>
                <a:cs typeface="Times New Roman" panose="02020603050405020304" pitchFamily="18" charset="0"/>
              </a:rPr>
              <a:t> Examine how NOMA and MIMO systems might be integrated to improve system performance and enable enormous user connectivity.</a:t>
            </a:r>
            <a:endParaRPr lang="en-IN" sz="1900" dirty="0"/>
          </a:p>
        </p:txBody>
      </p:sp>
    </p:spTree>
    <p:extLst>
      <p:ext uri="{BB962C8B-B14F-4D97-AF65-F5344CB8AC3E}">
        <p14:creationId xmlns:p14="http://schemas.microsoft.com/office/powerpoint/2010/main" val="3513687471"/>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6517E3C-D541-18C3-117D-E330D3D06DD5}"/>
              </a:ext>
            </a:extLst>
          </p:cNvPr>
          <p:cNvSpPr>
            <a:spLocks noGrp="1"/>
          </p:cNvSpPr>
          <p:nvPr>
            <p:ph type="title"/>
          </p:nvPr>
        </p:nvSpPr>
        <p:spPr>
          <a:xfrm>
            <a:off x="2010156" y="-236061"/>
            <a:ext cx="7684008" cy="1325562"/>
          </a:xfrm>
        </p:spPr>
        <p:txBody>
          <a:bodyPr>
            <a:normAutofit/>
          </a:bodyPr>
          <a:lstStyle/>
          <a:p>
            <a:r>
              <a:rPr lang="en-IN" sz="6000" dirty="0"/>
              <a:t>METHODOLOGIES</a:t>
            </a:r>
          </a:p>
        </p:txBody>
      </p:sp>
      <p:sp>
        <p:nvSpPr>
          <p:cNvPr id="3" name="Content Placeholder 2">
            <a:extLst>
              <a:ext uri="{FF2B5EF4-FFF2-40B4-BE49-F238E27FC236}">
                <a16:creationId xmlns:a16="http://schemas.microsoft.com/office/drawing/2014/main" id="{DD03B917-0F76-8D80-9B14-2813B207D901}"/>
              </a:ext>
            </a:extLst>
          </p:cNvPr>
          <p:cNvSpPr>
            <a:spLocks noGrp="1"/>
          </p:cNvSpPr>
          <p:nvPr>
            <p:ph idx="1"/>
          </p:nvPr>
        </p:nvSpPr>
        <p:spPr>
          <a:xfrm>
            <a:off x="883920" y="1417002"/>
            <a:ext cx="9936480" cy="5014278"/>
          </a:xfrm>
        </p:spPr>
        <p:txBody>
          <a:bodyPr>
            <a:normAutofit/>
          </a:bodyPr>
          <a:lstStyle/>
          <a:p>
            <a:pPr marL="0" indent="0">
              <a:buNone/>
            </a:pPr>
            <a:r>
              <a:rPr lang="en-US" sz="2000" dirty="0">
                <a:latin typeface="Calibri" panose="020F0502020204030204" pitchFamily="34" charset="0"/>
                <a:ea typeface="Calibri" panose="020F0502020204030204" pitchFamily="34" charset="0"/>
                <a:cs typeface="Calibri" panose="020F0502020204030204" pitchFamily="34" charset="0"/>
              </a:rPr>
              <a:t>Using MATLAB, the following procedures describe how to develop Power-Domain NOMA in 5G:</a:t>
            </a:r>
          </a:p>
          <a:p>
            <a:pPr marL="342900" indent="-342900">
              <a:buAutoNum type="arabicPeriod"/>
            </a:pPr>
            <a:r>
              <a:rPr lang="en-US" sz="2000" b="1" dirty="0">
                <a:latin typeface="Calibri" panose="020F0502020204030204" pitchFamily="34" charset="0"/>
                <a:ea typeface="Calibri" panose="020F0502020204030204" pitchFamily="34" charset="0"/>
                <a:cs typeface="Calibri" panose="020F0502020204030204" pitchFamily="34" charset="0"/>
              </a:rPr>
              <a:t>System Model Setup: </a:t>
            </a:r>
          </a:p>
          <a:p>
            <a:r>
              <a:rPr lang="en-US" sz="2000" dirty="0">
                <a:latin typeface="Calibri" panose="020F0502020204030204" pitchFamily="34" charset="0"/>
                <a:ea typeface="Calibri" panose="020F0502020204030204" pitchFamily="34" charset="0"/>
                <a:cs typeface="Calibri" panose="020F0502020204030204" pitchFamily="34" charset="0"/>
              </a:rPr>
              <a:t>Assume the role of a base station in communication with two users, one near and the other far away. Use power-domain multiplexing to assign the distant user a greater power level and the near user a lower power level.</a:t>
            </a:r>
          </a:p>
          <a:p>
            <a:r>
              <a:rPr lang="en-US" sz="2000" dirty="0">
                <a:latin typeface="Calibri" panose="020F0502020204030204" pitchFamily="34" charset="0"/>
                <a:ea typeface="Calibri" panose="020F0502020204030204" pitchFamily="34" charset="0"/>
                <a:cs typeface="Calibri" panose="020F0502020204030204" pitchFamily="34" charset="0"/>
              </a:rPr>
              <a:t>To evaluate the effects of fading and interference, model the channels (AWGN, Rayleigh, Rician).</a:t>
            </a:r>
          </a:p>
          <a:p>
            <a:pPr marL="0" indent="0">
              <a:buNone/>
            </a:pPr>
            <a:r>
              <a:rPr lang="en-US" sz="2000" b="1" dirty="0">
                <a:latin typeface="Calibri" panose="020F0502020204030204" pitchFamily="34" charset="0"/>
                <a:ea typeface="Calibri" panose="020F0502020204030204" pitchFamily="34" charset="0"/>
                <a:cs typeface="Calibri" panose="020F0502020204030204" pitchFamily="34" charset="0"/>
              </a:rPr>
              <a:t>2. Superposition Coding and SIC: </a:t>
            </a:r>
          </a:p>
          <a:p>
            <a:r>
              <a:rPr lang="en-US" sz="2000" dirty="0">
                <a:latin typeface="Calibri" panose="020F0502020204030204" pitchFamily="34" charset="0"/>
                <a:ea typeface="Calibri" panose="020F0502020204030204" pitchFamily="34" charset="0"/>
                <a:cs typeface="Calibri" panose="020F0502020204030204" pitchFamily="34" charset="0"/>
              </a:rPr>
              <a:t>To integrate signals with varying power levels, use superposition coding at the transmitter.</a:t>
            </a:r>
          </a:p>
          <a:p>
            <a:r>
              <a:rPr lang="en-US" sz="2000" dirty="0">
                <a:latin typeface="Calibri" panose="020F0502020204030204" pitchFamily="34" charset="0"/>
                <a:ea typeface="Calibri" panose="020F0502020204030204" pitchFamily="34" charset="0"/>
                <a:cs typeface="Calibri" panose="020F0502020204030204" pitchFamily="34" charset="0"/>
              </a:rPr>
              <a:t>Before decoding the signal from the nearby user, use SIC at the receiver to eliminate interference from the far user.</a:t>
            </a:r>
          </a:p>
          <a:p>
            <a:endParaRPr lang="en-US" dirty="0"/>
          </a:p>
          <a:p>
            <a:endParaRPr lang="en-IN" dirty="0"/>
          </a:p>
        </p:txBody>
      </p:sp>
    </p:spTree>
    <p:extLst>
      <p:ext uri="{BB962C8B-B14F-4D97-AF65-F5344CB8AC3E}">
        <p14:creationId xmlns:p14="http://schemas.microsoft.com/office/powerpoint/2010/main" val="407914016"/>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4F491A62-4AFF-02CD-41AF-E7675A0BDF30}"/>
              </a:ext>
            </a:extLst>
          </p:cNvPr>
          <p:cNvSpPr>
            <a:spLocks noGrp="1"/>
          </p:cNvSpPr>
          <p:nvPr>
            <p:ph idx="1"/>
          </p:nvPr>
        </p:nvSpPr>
        <p:spPr>
          <a:xfrm>
            <a:off x="1306068" y="1234122"/>
            <a:ext cx="9579864" cy="5486717"/>
          </a:xfrm>
        </p:spPr>
        <p:txBody>
          <a:bodyPr>
            <a:noAutofit/>
          </a:bodyPr>
          <a:lstStyle/>
          <a:p>
            <a:pPr marL="0" indent="0">
              <a:buNone/>
            </a:pPr>
            <a:r>
              <a:rPr lang="en-US" sz="2000" b="1" dirty="0">
                <a:latin typeface="Calibri" panose="020F0502020204030204" pitchFamily="34" charset="0"/>
                <a:ea typeface="Calibri" panose="020F0502020204030204" pitchFamily="34" charset="0"/>
                <a:cs typeface="Calibri" panose="020F0502020204030204" pitchFamily="34" charset="0"/>
              </a:rPr>
              <a:t>3. Measures of Performance:</a:t>
            </a:r>
          </a:p>
          <a:p>
            <a:r>
              <a:rPr lang="en-US" sz="2000" dirty="0">
                <a:latin typeface="Calibri" panose="020F0502020204030204" pitchFamily="34" charset="0"/>
                <a:ea typeface="Calibri" panose="020F0502020204030204" pitchFamily="34" charset="0"/>
                <a:cs typeface="Calibri" panose="020F0502020204030204" pitchFamily="34" charset="0"/>
              </a:rPr>
              <a:t>BER: Under different channel conditions, simulate and determine the BER for both users.</a:t>
            </a:r>
          </a:p>
          <a:p>
            <a:r>
              <a:rPr lang="en-US" sz="2000" b="1" dirty="0">
                <a:latin typeface="Calibri" panose="020F0502020204030204" pitchFamily="34" charset="0"/>
                <a:ea typeface="Calibri" panose="020F0502020204030204" pitchFamily="34" charset="0"/>
                <a:cs typeface="Calibri" panose="020F0502020204030204" pitchFamily="34" charset="0"/>
              </a:rPr>
              <a:t>SINR:</a:t>
            </a:r>
            <a:r>
              <a:rPr lang="en-US" sz="2000" dirty="0">
                <a:latin typeface="Calibri" panose="020F0502020204030204" pitchFamily="34" charset="0"/>
                <a:ea typeface="Calibri" panose="020F0502020204030204" pitchFamily="34" charset="0"/>
                <a:cs typeface="Calibri" panose="020F0502020204030204" pitchFamily="34" charset="0"/>
              </a:rPr>
              <a:t> Evaluate SINR for different power allocations to assess interference management. </a:t>
            </a:r>
          </a:p>
          <a:p>
            <a:r>
              <a:rPr lang="en-US" sz="2000" dirty="0">
                <a:latin typeface="Calibri" panose="020F0502020204030204" pitchFamily="34" charset="0"/>
                <a:ea typeface="Calibri" panose="020F0502020204030204" pitchFamily="34" charset="0"/>
                <a:cs typeface="Calibri" panose="020F0502020204030204" pitchFamily="34" charset="0"/>
              </a:rPr>
              <a:t>Capacity &amp; Outage Probability: Simulate achievable data rates and outage probabilities to identify optimal power distribution. </a:t>
            </a:r>
          </a:p>
          <a:p>
            <a:pPr marL="0" indent="0">
              <a:buNone/>
            </a:pPr>
            <a:r>
              <a:rPr lang="en-US" sz="2000" b="1" dirty="0">
                <a:latin typeface="Calibri" panose="020F0502020204030204" pitchFamily="34" charset="0"/>
                <a:ea typeface="Calibri" panose="020F0502020204030204" pitchFamily="34" charset="0"/>
                <a:cs typeface="Calibri" panose="020F0502020204030204" pitchFamily="34" charset="0"/>
              </a:rPr>
              <a:t>4. Simulation Procedure: </a:t>
            </a:r>
            <a:r>
              <a:rPr lang="en-US" sz="2000" dirty="0">
                <a:latin typeface="Calibri" panose="020F0502020204030204" pitchFamily="34" charset="0"/>
                <a:ea typeface="Calibri" panose="020F0502020204030204" pitchFamily="34" charset="0"/>
                <a:cs typeface="Calibri" panose="020F0502020204030204" pitchFamily="34" charset="0"/>
              </a:rPr>
              <a:t>Set system parameters (e.g., power levels, modulation, and channel conditions). Run simulations to evaluate BER, SINR, capacity, and outage probability. Analyze results to assess the effect of power allocation on system performance and user fairness. </a:t>
            </a:r>
          </a:p>
          <a:p>
            <a:pPr marL="0" indent="0">
              <a:buNone/>
            </a:pPr>
            <a:r>
              <a:rPr lang="en-US" sz="2000" b="1" dirty="0">
                <a:latin typeface="Calibri" panose="020F0502020204030204" pitchFamily="34" charset="0"/>
                <a:ea typeface="Calibri" panose="020F0502020204030204" pitchFamily="34" charset="0"/>
                <a:cs typeface="Calibri" panose="020F0502020204030204" pitchFamily="34" charset="0"/>
              </a:rPr>
              <a:t>5. Optimization: </a:t>
            </a:r>
            <a:r>
              <a:rPr lang="en-US" sz="2000" dirty="0">
                <a:latin typeface="Calibri" panose="020F0502020204030204" pitchFamily="34" charset="0"/>
                <a:ea typeface="Calibri" panose="020F0502020204030204" pitchFamily="34" charset="0"/>
                <a:cs typeface="Calibri" panose="020F0502020204030204" pitchFamily="34" charset="0"/>
              </a:rPr>
              <a:t>Experiment with different power allocation strategies to optimize system capacity, minimize BER, and reduce outage probability. </a:t>
            </a:r>
          </a:p>
          <a:p>
            <a:pPr marL="0" indent="0">
              <a:buNone/>
            </a:pPr>
            <a:r>
              <a:rPr lang="en-US" sz="2000" b="1" dirty="0">
                <a:latin typeface="Calibri" panose="020F0502020204030204" pitchFamily="34" charset="0"/>
                <a:ea typeface="Calibri" panose="020F0502020204030204" pitchFamily="34" charset="0"/>
                <a:cs typeface="Calibri" panose="020F0502020204030204" pitchFamily="34" charset="0"/>
              </a:rPr>
              <a:t>6. Visualization: </a:t>
            </a:r>
            <a:r>
              <a:rPr lang="en-US" sz="2000" dirty="0">
                <a:latin typeface="Calibri" panose="020F0502020204030204" pitchFamily="34" charset="0"/>
                <a:ea typeface="Calibri" panose="020F0502020204030204" pitchFamily="34" charset="0"/>
                <a:cs typeface="Calibri" panose="020F0502020204030204" pitchFamily="34" charset="0"/>
              </a:rPr>
              <a:t>Use MATLAB plotting functions to visualize results like BER vs. SNR, capacity vs. power, and outage probability vs. power.</a:t>
            </a:r>
            <a:endParaRPr lang="en-IN" sz="2000" dirty="0">
              <a:latin typeface="Calibri" panose="020F0502020204030204" pitchFamily="34" charset="0"/>
              <a:ea typeface="Calibri" panose="020F0502020204030204" pitchFamily="34" charset="0"/>
              <a:cs typeface="Calibri" panose="020F0502020204030204" pitchFamily="34" charset="0"/>
            </a:endParaRPr>
          </a:p>
        </p:txBody>
      </p:sp>
      <p:sp>
        <p:nvSpPr>
          <p:cNvPr id="4" name="Title 1">
            <a:extLst>
              <a:ext uri="{FF2B5EF4-FFF2-40B4-BE49-F238E27FC236}">
                <a16:creationId xmlns:a16="http://schemas.microsoft.com/office/drawing/2014/main" id="{A7A3F15A-E00B-5367-655B-41207A201101}"/>
              </a:ext>
            </a:extLst>
          </p:cNvPr>
          <p:cNvSpPr>
            <a:spLocks noGrp="1"/>
          </p:cNvSpPr>
          <p:nvPr>
            <p:ph type="title"/>
          </p:nvPr>
        </p:nvSpPr>
        <p:spPr>
          <a:xfrm>
            <a:off x="1946243" y="-259080"/>
            <a:ext cx="7500937" cy="1325563"/>
          </a:xfrm>
        </p:spPr>
        <p:txBody>
          <a:bodyPr>
            <a:normAutofit/>
          </a:bodyPr>
          <a:lstStyle/>
          <a:p>
            <a:r>
              <a:rPr lang="en-IN" sz="6000" dirty="0"/>
              <a:t>METHODOLOGIES</a:t>
            </a:r>
          </a:p>
        </p:txBody>
      </p:sp>
    </p:spTree>
    <p:extLst>
      <p:ext uri="{BB962C8B-B14F-4D97-AF65-F5344CB8AC3E}">
        <p14:creationId xmlns:p14="http://schemas.microsoft.com/office/powerpoint/2010/main" val="2524613814"/>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448A014-3D44-2153-8273-ED9A604D73DA}"/>
              </a:ext>
            </a:extLst>
          </p:cNvPr>
          <p:cNvSpPr>
            <a:spLocks noGrp="1"/>
          </p:cNvSpPr>
          <p:nvPr>
            <p:ph type="title"/>
          </p:nvPr>
        </p:nvSpPr>
        <p:spPr>
          <a:xfrm>
            <a:off x="3576828" y="-228600"/>
            <a:ext cx="3965448" cy="1325562"/>
          </a:xfrm>
        </p:spPr>
        <p:txBody>
          <a:bodyPr>
            <a:normAutofit/>
          </a:bodyPr>
          <a:lstStyle/>
          <a:p>
            <a:r>
              <a:rPr lang="en-IN" sz="6000" dirty="0"/>
              <a:t>RESULTS</a:t>
            </a:r>
          </a:p>
        </p:txBody>
      </p:sp>
      <p:sp>
        <p:nvSpPr>
          <p:cNvPr id="3" name="Content Placeholder 2">
            <a:extLst>
              <a:ext uri="{FF2B5EF4-FFF2-40B4-BE49-F238E27FC236}">
                <a16:creationId xmlns:a16="http://schemas.microsoft.com/office/drawing/2014/main" id="{E86841B5-3014-EF82-E40B-6B6E87CB0CC3}"/>
              </a:ext>
            </a:extLst>
          </p:cNvPr>
          <p:cNvSpPr>
            <a:spLocks noGrp="1"/>
          </p:cNvSpPr>
          <p:nvPr>
            <p:ph idx="1"/>
          </p:nvPr>
        </p:nvSpPr>
        <p:spPr>
          <a:xfrm>
            <a:off x="1338072" y="1493520"/>
            <a:ext cx="9101328" cy="4640897"/>
          </a:xfrm>
        </p:spPr>
        <p:txBody>
          <a:bodyPr/>
          <a:lstStyle/>
          <a:p>
            <a:endParaRPr lang="en-IN" dirty="0"/>
          </a:p>
        </p:txBody>
      </p:sp>
    </p:spTree>
    <p:extLst>
      <p:ext uri="{BB962C8B-B14F-4D97-AF65-F5344CB8AC3E}">
        <p14:creationId xmlns:p14="http://schemas.microsoft.com/office/powerpoint/2010/main" val="2089436983"/>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283B508-620A-C104-74E4-D441ACA198E2}"/>
              </a:ext>
            </a:extLst>
          </p:cNvPr>
          <p:cNvSpPr>
            <a:spLocks noGrp="1"/>
          </p:cNvSpPr>
          <p:nvPr>
            <p:ph type="title"/>
          </p:nvPr>
        </p:nvSpPr>
        <p:spPr>
          <a:xfrm>
            <a:off x="2631948" y="-152400"/>
            <a:ext cx="5855208" cy="1325562"/>
          </a:xfrm>
        </p:spPr>
        <p:txBody>
          <a:bodyPr>
            <a:normAutofit/>
          </a:bodyPr>
          <a:lstStyle/>
          <a:p>
            <a:r>
              <a:rPr lang="en-IN" sz="6000" dirty="0"/>
              <a:t>CONCLUSION</a:t>
            </a:r>
          </a:p>
        </p:txBody>
      </p:sp>
      <p:sp>
        <p:nvSpPr>
          <p:cNvPr id="3" name="Content Placeholder 2">
            <a:extLst>
              <a:ext uri="{FF2B5EF4-FFF2-40B4-BE49-F238E27FC236}">
                <a16:creationId xmlns:a16="http://schemas.microsoft.com/office/drawing/2014/main" id="{66DC4CAE-846A-4474-D5EE-3278A2E29D12}"/>
              </a:ext>
            </a:extLst>
          </p:cNvPr>
          <p:cNvSpPr>
            <a:spLocks noGrp="1"/>
          </p:cNvSpPr>
          <p:nvPr>
            <p:ph idx="1"/>
          </p:nvPr>
        </p:nvSpPr>
        <p:spPr/>
        <p:txBody>
          <a:bodyPr/>
          <a:lstStyle/>
          <a:p>
            <a:endParaRPr lang="en-IN"/>
          </a:p>
        </p:txBody>
      </p:sp>
    </p:spTree>
    <p:extLst>
      <p:ext uri="{BB962C8B-B14F-4D97-AF65-F5344CB8AC3E}">
        <p14:creationId xmlns:p14="http://schemas.microsoft.com/office/powerpoint/2010/main" val="4262303449"/>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40FF29D-B5E9-3B94-B970-6CF686F6475A}"/>
              </a:ext>
            </a:extLst>
          </p:cNvPr>
          <p:cNvSpPr>
            <a:spLocks noGrp="1"/>
          </p:cNvSpPr>
          <p:nvPr>
            <p:ph type="title"/>
          </p:nvPr>
        </p:nvSpPr>
        <p:spPr>
          <a:xfrm>
            <a:off x="1261872" y="0"/>
            <a:ext cx="9040368" cy="1325562"/>
          </a:xfrm>
        </p:spPr>
        <p:txBody>
          <a:bodyPr>
            <a:noAutofit/>
          </a:bodyPr>
          <a:lstStyle/>
          <a:p>
            <a:r>
              <a:rPr lang="en-IN" sz="4800" dirty="0"/>
              <a:t>SCOPE FOR IMPROVEMENT</a:t>
            </a:r>
          </a:p>
        </p:txBody>
      </p:sp>
      <p:sp>
        <p:nvSpPr>
          <p:cNvPr id="3" name="Content Placeholder 2">
            <a:extLst>
              <a:ext uri="{FF2B5EF4-FFF2-40B4-BE49-F238E27FC236}">
                <a16:creationId xmlns:a16="http://schemas.microsoft.com/office/drawing/2014/main" id="{5B4001A4-AA7B-FBEB-F5F0-0093E03F31D3}"/>
              </a:ext>
            </a:extLst>
          </p:cNvPr>
          <p:cNvSpPr>
            <a:spLocks noGrp="1"/>
          </p:cNvSpPr>
          <p:nvPr>
            <p:ph idx="1"/>
          </p:nvPr>
        </p:nvSpPr>
        <p:spPr>
          <a:xfrm>
            <a:off x="1261872" y="2026921"/>
            <a:ext cx="9040368" cy="3977640"/>
          </a:xfrm>
        </p:spPr>
        <p:txBody>
          <a:bodyPr/>
          <a:lstStyle/>
          <a:p>
            <a:pPr marL="0" indent="0">
              <a:buNone/>
            </a:pPr>
            <a:r>
              <a:rPr lang="en-US" sz="2000" b="1" dirty="0">
                <a:latin typeface="Calibri" panose="020F0502020204030204" pitchFamily="34" charset="0"/>
                <a:ea typeface="Calibri" panose="020F0502020204030204" pitchFamily="34" charset="0"/>
                <a:cs typeface="Calibri" panose="020F0502020204030204" pitchFamily="34" charset="0"/>
              </a:rPr>
              <a:t>Multiple participants: </a:t>
            </a:r>
            <a:r>
              <a:rPr lang="en-US" sz="2000" dirty="0">
                <a:latin typeface="Calibri" panose="020F0502020204030204" pitchFamily="34" charset="0"/>
                <a:ea typeface="Calibri" panose="020F0502020204030204" pitchFamily="34" charset="0"/>
                <a:cs typeface="Calibri" panose="020F0502020204030204" pitchFamily="34" charset="0"/>
              </a:rPr>
              <a:t>Increase the simulation's complexity and realism by expanding the model to accommodate more than two participants.</a:t>
            </a:r>
          </a:p>
          <a:p>
            <a:pPr marL="0" indent="0">
              <a:buNone/>
            </a:pPr>
            <a:r>
              <a:rPr lang="en-US" sz="2000" b="1" dirty="0">
                <a:latin typeface="Calibri" panose="020F0502020204030204" pitchFamily="34" charset="0"/>
                <a:ea typeface="Calibri" panose="020F0502020204030204" pitchFamily="34" charset="0"/>
                <a:cs typeface="Calibri" panose="020F0502020204030204" pitchFamily="34" charset="0"/>
              </a:rPr>
              <a:t>Advanced Algorithms for Power Allocation: </a:t>
            </a:r>
            <a:r>
              <a:rPr lang="en-US" sz="2000" dirty="0">
                <a:latin typeface="Calibri" panose="020F0502020204030204" pitchFamily="34" charset="0"/>
                <a:ea typeface="Calibri" panose="020F0502020204030204" pitchFamily="34" charset="0"/>
                <a:cs typeface="Calibri" panose="020F0502020204030204" pitchFamily="34" charset="0"/>
              </a:rPr>
              <a:t>Investigate AI-or machine-learning-based systems to modify power levels dynamically in response to current network conditions.</a:t>
            </a:r>
          </a:p>
          <a:p>
            <a:pPr marL="0" indent="0">
              <a:buNone/>
            </a:pPr>
            <a:r>
              <a:rPr lang="en-US" sz="2000" b="1" dirty="0">
                <a:latin typeface="Calibri" panose="020F0502020204030204" pitchFamily="34" charset="0"/>
                <a:ea typeface="Calibri" panose="020F0502020204030204" pitchFamily="34" charset="0"/>
                <a:cs typeface="Calibri" panose="020F0502020204030204" pitchFamily="34" charset="0"/>
              </a:rPr>
              <a:t>Interference Management: </a:t>
            </a:r>
            <a:r>
              <a:rPr lang="en-US" sz="2000" dirty="0">
                <a:latin typeface="Calibri" panose="020F0502020204030204" pitchFamily="34" charset="0"/>
                <a:ea typeface="Calibri" panose="020F0502020204030204" pitchFamily="34" charset="0"/>
                <a:cs typeface="Calibri" panose="020F0502020204030204" pitchFamily="34" charset="0"/>
              </a:rPr>
              <a:t>To increase the accuracy of decoding at the receiver, improve interference cancellation techniques, such as sophisticated SIC approaches.</a:t>
            </a:r>
          </a:p>
          <a:p>
            <a:pPr marL="0" indent="0">
              <a:buNone/>
            </a:pPr>
            <a:r>
              <a:rPr lang="en-US" sz="2000" b="1" dirty="0">
                <a:latin typeface="Calibri" panose="020F0502020204030204" pitchFamily="34" charset="0"/>
                <a:ea typeface="Calibri" panose="020F0502020204030204" pitchFamily="34" charset="0"/>
                <a:cs typeface="Calibri" panose="020F0502020204030204" pitchFamily="34" charset="0"/>
              </a:rPr>
              <a:t>Energy Efficiency: </a:t>
            </a:r>
            <a:r>
              <a:rPr lang="en-US" sz="2000" dirty="0">
                <a:latin typeface="Calibri" panose="020F0502020204030204" pitchFamily="34" charset="0"/>
                <a:ea typeface="Calibri" panose="020F0502020204030204" pitchFamily="34" charset="0"/>
                <a:cs typeface="Calibri" panose="020F0502020204030204" pitchFamily="34" charset="0"/>
              </a:rPr>
              <a:t>Use power-saving communication methods to cut down on energy usage, which is essential for widespread 5G implementation.</a:t>
            </a:r>
          </a:p>
          <a:p>
            <a:pPr marL="0" indent="0">
              <a:buNone/>
            </a:pPr>
            <a:endParaRPr lang="en-IN" dirty="0"/>
          </a:p>
        </p:txBody>
      </p:sp>
    </p:spTree>
    <p:extLst>
      <p:ext uri="{BB962C8B-B14F-4D97-AF65-F5344CB8AC3E}">
        <p14:creationId xmlns:p14="http://schemas.microsoft.com/office/powerpoint/2010/main" val="2477361483"/>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4611F15-3452-6221-7CE3-EA289CD106D7}"/>
              </a:ext>
            </a:extLst>
          </p:cNvPr>
          <p:cNvSpPr>
            <a:spLocks noGrp="1"/>
          </p:cNvSpPr>
          <p:nvPr>
            <p:ph type="title"/>
          </p:nvPr>
        </p:nvSpPr>
        <p:spPr>
          <a:xfrm>
            <a:off x="2220468" y="15082"/>
            <a:ext cx="6678168" cy="1325562"/>
          </a:xfrm>
        </p:spPr>
        <p:txBody>
          <a:bodyPr>
            <a:normAutofit/>
          </a:bodyPr>
          <a:lstStyle/>
          <a:p>
            <a:r>
              <a:rPr lang="en-IN" sz="6000" dirty="0"/>
              <a:t>SOCIAL IMPACT</a:t>
            </a:r>
          </a:p>
        </p:txBody>
      </p:sp>
      <p:sp>
        <p:nvSpPr>
          <p:cNvPr id="3" name="Content Placeholder 2">
            <a:extLst>
              <a:ext uri="{FF2B5EF4-FFF2-40B4-BE49-F238E27FC236}">
                <a16:creationId xmlns:a16="http://schemas.microsoft.com/office/drawing/2014/main" id="{E0E86BC4-222D-F067-18C4-1635D29B09F0}"/>
              </a:ext>
            </a:extLst>
          </p:cNvPr>
          <p:cNvSpPr>
            <a:spLocks noGrp="1"/>
          </p:cNvSpPr>
          <p:nvPr>
            <p:ph idx="1"/>
          </p:nvPr>
        </p:nvSpPr>
        <p:spPr/>
        <p:txBody>
          <a:bodyPr>
            <a:noAutofit/>
          </a:bodyPr>
          <a:lstStyle/>
          <a:p>
            <a:pPr marL="342900" lvl="0" indent="-342900">
              <a:lnSpc>
                <a:spcPct val="107000"/>
              </a:lnSpc>
              <a:spcAft>
                <a:spcPts val="800"/>
              </a:spcAft>
              <a:buSzPts val="1000"/>
              <a:buFont typeface="Symbol" panose="05050102010706020507" pitchFamily="18" charset="2"/>
              <a:buChar char=""/>
              <a:tabLst>
                <a:tab pos="457200" algn="l"/>
              </a:tabLst>
            </a:pPr>
            <a:r>
              <a:rPr lang="en-IN" sz="2400" b="1" kern="100" dirty="0">
                <a:effectLst/>
                <a:latin typeface="Calibri" panose="020F0502020204030204" pitchFamily="34" charset="0"/>
                <a:ea typeface="Calibri" panose="020F0502020204030204" pitchFamily="34" charset="0"/>
                <a:cs typeface="Times New Roman" panose="02020603050405020304" pitchFamily="18" charset="0"/>
              </a:rPr>
              <a:t>Digital Inclusion</a:t>
            </a:r>
            <a:r>
              <a:rPr lang="en-IN" sz="2400" kern="100" dirty="0">
                <a:effectLst/>
                <a:latin typeface="Calibri" panose="020F0502020204030204" pitchFamily="34" charset="0"/>
                <a:ea typeface="Calibri" panose="020F0502020204030204" pitchFamily="34" charset="0"/>
                <a:cs typeface="Times New Roman" panose="02020603050405020304" pitchFamily="18" charset="0"/>
              </a:rPr>
              <a:t>: NOMA can connect more users, including those in rural or underserved areas, enabling equitable access to high-speed internet, thus reducing the digital divide.</a:t>
            </a:r>
          </a:p>
          <a:p>
            <a:pPr marL="342900" lvl="0" indent="-342900">
              <a:lnSpc>
                <a:spcPct val="107000"/>
              </a:lnSpc>
              <a:spcAft>
                <a:spcPts val="800"/>
              </a:spcAft>
              <a:buSzPts val="1000"/>
              <a:buFont typeface="Symbol" panose="05050102010706020507" pitchFamily="18" charset="2"/>
              <a:buChar char=""/>
              <a:tabLst>
                <a:tab pos="457200" algn="l"/>
              </a:tabLst>
            </a:pPr>
            <a:r>
              <a:rPr lang="en-IN" sz="2400" b="1" kern="100" dirty="0">
                <a:effectLst/>
                <a:latin typeface="Calibri" panose="020F0502020204030204" pitchFamily="34" charset="0"/>
                <a:ea typeface="Calibri" panose="020F0502020204030204" pitchFamily="34" charset="0"/>
                <a:cs typeface="Times New Roman" panose="02020603050405020304" pitchFamily="18" charset="0"/>
              </a:rPr>
              <a:t>Enhanced Connectivity</a:t>
            </a:r>
            <a:r>
              <a:rPr lang="en-IN" sz="2400" kern="100" dirty="0">
                <a:effectLst/>
                <a:latin typeface="Calibri" panose="020F0502020204030204" pitchFamily="34" charset="0"/>
                <a:ea typeface="Calibri" panose="020F0502020204030204" pitchFamily="34" charset="0"/>
                <a:cs typeface="Times New Roman" panose="02020603050405020304" pitchFamily="18" charset="0"/>
              </a:rPr>
              <a:t>: By improving spectral efficiency, NOMA enables better connectivity in dense urban environments, supporting applications like smart cities and IoT.</a:t>
            </a:r>
          </a:p>
          <a:p>
            <a:r>
              <a:rPr lang="en-IN" sz="2400" b="1" dirty="0">
                <a:effectLst/>
                <a:latin typeface="Calibri" panose="020F0502020204030204" pitchFamily="34" charset="0"/>
                <a:ea typeface="Calibri" panose="020F0502020204030204" pitchFamily="34" charset="0"/>
                <a:cs typeface="Times New Roman" panose="02020603050405020304" pitchFamily="18" charset="0"/>
              </a:rPr>
              <a:t>Emergency Services</a:t>
            </a:r>
            <a:r>
              <a:rPr lang="en-IN" sz="2400" dirty="0">
                <a:effectLst/>
                <a:latin typeface="Calibri" panose="020F0502020204030204" pitchFamily="34" charset="0"/>
                <a:ea typeface="Calibri" panose="020F0502020204030204" pitchFamily="34" charset="0"/>
                <a:cs typeface="Times New Roman" panose="02020603050405020304" pitchFamily="18" charset="0"/>
              </a:rPr>
              <a:t>: The higher reliability and capacity of      NOMA-based systems can improve critical communications during emergencies, ensuring faster response and better service coverage​</a:t>
            </a:r>
            <a:endParaRPr lang="en-IN" sz="2400" dirty="0"/>
          </a:p>
        </p:txBody>
      </p:sp>
    </p:spTree>
    <p:extLst>
      <p:ext uri="{BB962C8B-B14F-4D97-AF65-F5344CB8AC3E}">
        <p14:creationId xmlns:p14="http://schemas.microsoft.com/office/powerpoint/2010/main" val="2342825416"/>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6F955D4-53BF-2F04-FCE6-9008F91DC194}"/>
              </a:ext>
            </a:extLst>
          </p:cNvPr>
          <p:cNvSpPr>
            <a:spLocks noGrp="1"/>
          </p:cNvSpPr>
          <p:nvPr>
            <p:ph type="title"/>
          </p:nvPr>
        </p:nvSpPr>
        <p:spPr/>
        <p:txBody>
          <a:bodyPr/>
          <a:lstStyle/>
          <a:p>
            <a:r>
              <a:rPr lang="en-IN" dirty="0"/>
              <a:t>SUSTAINABLE DEVELOPMENT GOALS</a:t>
            </a:r>
          </a:p>
        </p:txBody>
      </p:sp>
      <p:sp>
        <p:nvSpPr>
          <p:cNvPr id="3" name="Content Placeholder 2">
            <a:extLst>
              <a:ext uri="{FF2B5EF4-FFF2-40B4-BE49-F238E27FC236}">
                <a16:creationId xmlns:a16="http://schemas.microsoft.com/office/drawing/2014/main" id="{9E934D1B-E5B2-AB06-28DA-AE19AE500EBB}"/>
              </a:ext>
            </a:extLst>
          </p:cNvPr>
          <p:cNvSpPr>
            <a:spLocks noGrp="1"/>
          </p:cNvSpPr>
          <p:nvPr>
            <p:ph idx="1"/>
          </p:nvPr>
        </p:nvSpPr>
        <p:spPr>
          <a:xfrm>
            <a:off x="1261872" y="1981200"/>
            <a:ext cx="9177528" cy="4663440"/>
          </a:xfrm>
        </p:spPr>
        <p:txBody>
          <a:bodyPr>
            <a:normAutofit/>
          </a:bodyPr>
          <a:lstStyle/>
          <a:p>
            <a:r>
              <a:rPr lang="en-US" sz="2000" b="1" dirty="0"/>
              <a:t>Goal 9: Industry, Innovation, and Infrastructure</a:t>
            </a:r>
            <a:r>
              <a:rPr lang="en-US" sz="2000" dirty="0"/>
              <a:t>: NOMA enhances 5G infrastructure, making it more efficient and inclusive, especially for smart industries and IoT applications.</a:t>
            </a:r>
          </a:p>
          <a:p>
            <a:r>
              <a:rPr lang="en-US" sz="2000" b="1" dirty="0"/>
              <a:t>Goal 10: Reduced Inequalities</a:t>
            </a:r>
            <a:r>
              <a:rPr lang="en-US" sz="2000" dirty="0"/>
              <a:t>: By enabling more simultaneous connections, NOMA promotes digital inclusion for remote and underprivileged populations, helping to bridge inequality gaps in access to technology.</a:t>
            </a:r>
          </a:p>
          <a:p>
            <a:r>
              <a:rPr lang="en-US" sz="2000" b="1" dirty="0"/>
              <a:t>Goal 11: Sustainable Cities and Communities</a:t>
            </a:r>
            <a:r>
              <a:rPr lang="en-US" sz="2000" dirty="0"/>
              <a:t>: NOMA can support the smart city vision by efficiently managing the large number of connected devices required for urban infrastructure, enhancing sustainability.</a:t>
            </a:r>
          </a:p>
          <a:p>
            <a:r>
              <a:rPr lang="en-US" sz="2000" b="1" dirty="0"/>
              <a:t>Goal 12: Responsible Consumption and Production</a:t>
            </a:r>
            <a:r>
              <a:rPr lang="en-US" sz="2000" dirty="0"/>
              <a:t>: Optimized power allocation techniques reduce energy waste, contributing to more sustainable consumption of energy resources in communication networks</a:t>
            </a:r>
            <a:endParaRPr lang="en-IN" sz="2000" dirty="0"/>
          </a:p>
        </p:txBody>
      </p:sp>
    </p:spTree>
    <p:extLst>
      <p:ext uri="{BB962C8B-B14F-4D97-AF65-F5344CB8AC3E}">
        <p14:creationId xmlns:p14="http://schemas.microsoft.com/office/powerpoint/2010/main" val="1083030459"/>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C2EBB95-A593-979E-99B2-9CDE799FB06F}"/>
              </a:ext>
            </a:extLst>
          </p:cNvPr>
          <p:cNvSpPr>
            <a:spLocks noGrp="1"/>
          </p:cNvSpPr>
          <p:nvPr>
            <p:ph type="title"/>
          </p:nvPr>
        </p:nvSpPr>
        <p:spPr>
          <a:xfrm>
            <a:off x="3416808" y="-213360"/>
            <a:ext cx="4285488" cy="1325562"/>
          </a:xfrm>
        </p:spPr>
        <p:txBody>
          <a:bodyPr>
            <a:normAutofit/>
          </a:bodyPr>
          <a:lstStyle/>
          <a:p>
            <a:r>
              <a:rPr lang="en-IN" sz="6000" dirty="0"/>
              <a:t>TIMELINE</a:t>
            </a:r>
          </a:p>
        </p:txBody>
      </p:sp>
      <p:sp>
        <p:nvSpPr>
          <p:cNvPr id="3" name="Content Placeholder 2">
            <a:extLst>
              <a:ext uri="{FF2B5EF4-FFF2-40B4-BE49-F238E27FC236}">
                <a16:creationId xmlns:a16="http://schemas.microsoft.com/office/drawing/2014/main" id="{CE80A505-EB39-9629-FBCA-3B72BA6C88CE}"/>
              </a:ext>
            </a:extLst>
          </p:cNvPr>
          <p:cNvSpPr>
            <a:spLocks noGrp="1"/>
          </p:cNvSpPr>
          <p:nvPr>
            <p:ph idx="1"/>
          </p:nvPr>
        </p:nvSpPr>
        <p:spPr/>
        <p:txBody>
          <a:bodyPr/>
          <a:lstStyle/>
          <a:p>
            <a:endParaRPr lang="en-IN" dirty="0"/>
          </a:p>
        </p:txBody>
      </p:sp>
    </p:spTree>
    <p:extLst>
      <p:ext uri="{BB962C8B-B14F-4D97-AF65-F5344CB8AC3E}">
        <p14:creationId xmlns:p14="http://schemas.microsoft.com/office/powerpoint/2010/main" val="3252752280"/>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37749A6-1663-5D74-AEFB-D0F58C925303}"/>
              </a:ext>
            </a:extLst>
          </p:cNvPr>
          <p:cNvSpPr>
            <a:spLocks noGrp="1"/>
          </p:cNvSpPr>
          <p:nvPr>
            <p:ph type="title"/>
          </p:nvPr>
        </p:nvSpPr>
        <p:spPr>
          <a:xfrm>
            <a:off x="2708148" y="-152400"/>
            <a:ext cx="5702808" cy="1325562"/>
          </a:xfrm>
        </p:spPr>
        <p:txBody>
          <a:bodyPr>
            <a:normAutofit/>
          </a:bodyPr>
          <a:lstStyle/>
          <a:p>
            <a:r>
              <a:rPr lang="en-IN" sz="6000" dirty="0"/>
              <a:t>REFERENCES</a:t>
            </a:r>
          </a:p>
        </p:txBody>
      </p:sp>
      <p:sp>
        <p:nvSpPr>
          <p:cNvPr id="3" name="Content Placeholder 2">
            <a:extLst>
              <a:ext uri="{FF2B5EF4-FFF2-40B4-BE49-F238E27FC236}">
                <a16:creationId xmlns:a16="http://schemas.microsoft.com/office/drawing/2014/main" id="{2D80BDFE-9A4F-E857-3001-7EF6DEBB3F3C}"/>
              </a:ext>
            </a:extLst>
          </p:cNvPr>
          <p:cNvSpPr>
            <a:spLocks noGrp="1"/>
          </p:cNvSpPr>
          <p:nvPr>
            <p:ph idx="1"/>
          </p:nvPr>
        </p:nvSpPr>
        <p:spPr/>
        <p:txBody>
          <a:bodyPr/>
          <a:lstStyle/>
          <a:p>
            <a:endParaRPr lang="en-IN"/>
          </a:p>
        </p:txBody>
      </p:sp>
    </p:spTree>
    <p:extLst>
      <p:ext uri="{BB962C8B-B14F-4D97-AF65-F5344CB8AC3E}">
        <p14:creationId xmlns:p14="http://schemas.microsoft.com/office/powerpoint/2010/main" val="1667467723"/>
      </p:ext>
    </p:extLst>
  </p:cSld>
  <p:clrMapOvr>
    <a:masterClrMapping/>
  </p:clrMapOvr>
</p:sld>
</file>

<file path=ppt/theme/theme1.xml><?xml version="1.0" encoding="utf-8"?>
<a:theme xmlns:a="http://schemas.openxmlformats.org/drawingml/2006/main" name="View">
  <a:themeElements>
    <a:clrScheme name="View">
      <a:dk1>
        <a:srgbClr val="000000"/>
      </a:dk1>
      <a:lt1>
        <a:srgbClr val="FFFFFF"/>
      </a:lt1>
      <a:dk2>
        <a:srgbClr val="46464A"/>
      </a:dk2>
      <a:lt2>
        <a:srgbClr val="D6D3CC"/>
      </a:lt2>
      <a:accent1>
        <a:srgbClr val="6F6F74"/>
      </a:accent1>
      <a:accent2>
        <a:srgbClr val="92A9B9"/>
      </a:accent2>
      <a:accent3>
        <a:srgbClr val="A7B789"/>
      </a:accent3>
      <a:accent4>
        <a:srgbClr val="B9A489"/>
      </a:accent4>
      <a:accent5>
        <a:srgbClr val="8D6374"/>
      </a:accent5>
      <a:accent6>
        <a:srgbClr val="9B7362"/>
      </a:accent6>
      <a:hlink>
        <a:srgbClr val="67AABF"/>
      </a:hlink>
      <a:folHlink>
        <a:srgbClr val="ABAFA5"/>
      </a:folHlink>
    </a:clrScheme>
    <a:fontScheme name="View">
      <a:majorFont>
        <a:latin typeface="Century Schoolbook" panose="02040604050505020304"/>
        <a:ea typeface=""/>
        <a:cs typeface=""/>
        <a:font script="Jpan" typeface="ＭＳ ゴシック"/>
        <a:font script="Hang" typeface="맑은 고딕"/>
        <a:font script="Hans" typeface="宋体"/>
        <a:font script="Hant" typeface="新細明體"/>
        <a:font script="Arab" typeface="Tahoma"/>
        <a:font script="Hebr" typeface="Gisha"/>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Century Schoolbook" panose="02040604050505020304"/>
        <a:ea typeface=""/>
        <a:cs typeface=""/>
        <a:font script="Jpan" typeface="ＭＳ ゴシック"/>
        <a:font script="Hang" typeface="맑은 고딕"/>
        <a:font script="Hans" typeface="宋体"/>
        <a:font script="Hant" typeface="新細明體"/>
        <a:font script="Arab" typeface="Tahoma"/>
        <a:font script="Hebr" typeface="Gisha"/>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Verdana"/>
        <a:font script="Uigh" typeface="Microsoft Uighur"/>
        <a:font script="Geor" typeface="Sylfaen"/>
      </a:minorFont>
    </a:fontScheme>
    <a:fmtScheme name="View">
      <a:fillStyleLst>
        <a:solidFill>
          <a:schemeClr val="phClr"/>
        </a:solidFill>
        <a:solidFill>
          <a:schemeClr val="phClr">
            <a:tint val="60000"/>
            <a:satMod val="120000"/>
          </a:schemeClr>
        </a:solidFill>
        <a:solidFill>
          <a:schemeClr val="phClr">
            <a:shade val="75000"/>
            <a:satMod val="160000"/>
          </a:schemeClr>
        </a:solidFill>
      </a:fillStyleLst>
      <a:lnStyleLst>
        <a:ln w="9525" cap="flat" cmpd="sng" algn="ctr">
          <a:solidFill>
            <a:schemeClr val="phClr"/>
          </a:solidFill>
          <a:prstDash val="solid"/>
        </a:ln>
        <a:ln w="13970" cap="flat" cmpd="sng" algn="ctr">
          <a:solidFill>
            <a:schemeClr val="phClr"/>
          </a:solidFill>
          <a:prstDash val="solid"/>
        </a:ln>
        <a:ln w="17145" cap="flat" cmpd="sng" algn="ctr">
          <a:solidFill>
            <a:schemeClr val="phClr">
              <a:shade val="95000"/>
              <a:alpha val="95000"/>
              <a:satMod val="150000"/>
            </a:schemeClr>
          </a:solidFill>
          <a:prstDash val="solid"/>
        </a:ln>
      </a:lnStyleLst>
      <a:effectStyleLst>
        <a:effectStyle>
          <a:effectLst/>
        </a:effectStyle>
        <a:effectStyle>
          <a:effectLst>
            <a:outerShdw blurRad="50800" dist="15240" dir="5400000" algn="tl" rotWithShape="0">
              <a:srgbClr val="000000">
                <a:alpha val="75000"/>
              </a:srgbClr>
            </a:outerShdw>
          </a:effectLst>
          <a:scene3d>
            <a:camera prst="orthographicFront">
              <a:rot lat="0" lon="0" rev="0"/>
            </a:camera>
            <a:lightRig rig="brightRoom" dir="tl"/>
          </a:scene3d>
          <a:sp3d contourW="9525" prstMaterial="flat">
            <a:bevelT w="0" h="0" prst="coolSlant"/>
            <a:contourClr>
              <a:schemeClr val="phClr">
                <a:shade val="35000"/>
                <a:satMod val="130000"/>
              </a:schemeClr>
            </a:contourClr>
          </a:sp3d>
        </a:effectStyle>
        <a:effectStyle>
          <a:effectLst>
            <a:outerShdw blurRad="76200" dist="25400" dir="5400000" algn="tl" rotWithShape="0">
              <a:srgbClr val="000000">
                <a:alpha val="55000"/>
              </a:srgbClr>
            </a:outerShdw>
          </a:effectLst>
          <a:scene3d>
            <a:camera prst="orthographicFront">
              <a:rot lat="0" lon="0" rev="0"/>
            </a:camera>
            <a:lightRig rig="brightRoom" dir="tl"/>
          </a:scene3d>
          <a:sp3d contourW="19050" prstMaterial="flat">
            <a:bevelT w="0" h="0" prst="coolSlant"/>
            <a:contourClr>
              <a:schemeClr val="phClr">
                <a:shade val="25000"/>
                <a:satMod val="140000"/>
              </a:schemeClr>
            </a:contourClr>
          </a:sp3d>
        </a:effectStyle>
      </a:effectStyleLst>
      <a:bgFillStyleLst>
        <a:solidFill>
          <a:schemeClr val="phClr"/>
        </a:solidFill>
        <a:solidFill>
          <a:schemeClr val="phClr">
            <a:tint val="95000"/>
            <a:satMod val="170000"/>
          </a:schemeClr>
        </a:solidFill>
        <a:gradFill rotWithShape="1">
          <a:gsLst>
            <a:gs pos="0">
              <a:schemeClr val="phClr">
                <a:tint val="94000"/>
                <a:shade val="98000"/>
                <a:satMod val="130000"/>
                <a:lumMod val="102000"/>
              </a:schemeClr>
            </a:gs>
            <a:gs pos="100000">
              <a:schemeClr val="phClr">
                <a:tint val="98000"/>
                <a:shade val="78000"/>
                <a:satMod val="140000"/>
              </a:schemeClr>
            </a:gs>
          </a:gsLst>
          <a:path path="circle">
            <a:fillToRect l="100000" t="100000" r="100000" b="100000"/>
          </a:path>
        </a:gradFill>
      </a:bgFillStyleLst>
    </a:fmtScheme>
  </a:themeElements>
  <a:objectDefaults/>
  <a:extraClrSchemeLst/>
  <a:extLst>
    <a:ext uri="{05A4C25C-085E-4340-85A3-A5531E510DB2}">
      <thm15:themeFamily xmlns:thm15="http://schemas.microsoft.com/office/thememl/2012/main" name="View" id="{BA0EB5A6-F2D4-4F82-977B-64ADEE4A2A69}" vid="{3969A8A2-35DB-4E3B-8885-16FD20568674}"/>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TM03457515[[fn=View]]</Template>
  <TotalTime>107</TotalTime>
  <Words>1238</Words>
  <Application>Microsoft Office PowerPoint</Application>
  <PresentationFormat>Widescreen</PresentationFormat>
  <Paragraphs>64</Paragraphs>
  <Slides>15</Slides>
  <Notes>1</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15</vt:i4>
      </vt:variant>
    </vt:vector>
  </HeadingPairs>
  <TitlesOfParts>
    <vt:vector size="21" baseType="lpstr">
      <vt:lpstr>Arial</vt:lpstr>
      <vt:lpstr>Calibri</vt:lpstr>
      <vt:lpstr>Century Schoolbook</vt:lpstr>
      <vt:lpstr>Symbol</vt:lpstr>
      <vt:lpstr>Wingdings 2</vt:lpstr>
      <vt:lpstr>View</vt:lpstr>
      <vt:lpstr>B.TECH ECE PROJECT-1</vt:lpstr>
      <vt:lpstr>LITERATURE SURVEY</vt:lpstr>
      <vt:lpstr>LITERATURE SURVEY</vt:lpstr>
      <vt:lpstr>LITERATURE SURVEY</vt:lpstr>
      <vt:lpstr>SOFTWARE DETAILS</vt:lpstr>
      <vt:lpstr>OBJECTIVE</vt:lpstr>
      <vt:lpstr>METHODOLOGIES</vt:lpstr>
      <vt:lpstr>METHODOLOGIES</vt:lpstr>
      <vt:lpstr>RESULTS</vt:lpstr>
      <vt:lpstr>CONCLUSION</vt:lpstr>
      <vt:lpstr>SCOPE FOR IMPROVEMENT</vt:lpstr>
      <vt:lpstr>SOCIAL IMPACT</vt:lpstr>
      <vt:lpstr>SUSTAINABLE DEVELOPMENT GOALS</vt:lpstr>
      <vt:lpstr>TIMELINE</vt:lpstr>
      <vt:lpstr>REFERENCES</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Pranavi Bhupalam</dc:creator>
  <cp:lastModifiedBy>Pranavi Bhupalam</cp:lastModifiedBy>
  <cp:revision>1</cp:revision>
  <dcterms:created xsi:type="dcterms:W3CDTF">2024-09-15T09:08:45Z</dcterms:created>
  <dcterms:modified xsi:type="dcterms:W3CDTF">2024-09-15T10:56:32Z</dcterms:modified>
</cp:coreProperties>
</file>